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0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8" r:id="rId18"/>
    <p:sldId id="274" r:id="rId19"/>
    <p:sldId id="275" r:id="rId20"/>
    <p:sldId id="276" r:id="rId21"/>
    <p:sldId id="277" r:id="rId22"/>
    <p:sldId id="259" r:id="rId23"/>
    <p:sldId id="26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ACFCAA-C4C5-987A-1CD5-5CA05265E6EA}" name="Hongyi Jiang" initials="HJ" userId="S::hjiang35@hawk.illinoistech.edu::6e9f26e8-11ff-475c-a034-c4f84199add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076" autoAdjust="0"/>
  </p:normalViewPr>
  <p:slideViewPr>
    <p:cSldViewPr snapToGrid="0">
      <p:cViewPr varScale="1">
        <p:scale>
          <a:sx n="87" d="100"/>
          <a:sy n="87" d="100"/>
        </p:scale>
        <p:origin x="5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14.1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714 308 24575,'1'-14'0,"-2"0"0,0 1 0,0-1 0,-2 0 0,0 1 0,0 0 0,-8-19 0,8 24 0,-1 0 0,-1 0 0,0 1 0,0 0 0,0 0 0,-1 0 0,0 1 0,0-1 0,0 1 0,-1 1 0,0-1 0,-14-7 0,12 8 0,-6-6 0,-1 2 0,0-1 0,0 2 0,-1 0 0,0 1 0,-1 1 0,1 1 0,-1 0 0,0 1 0,-27-2 0,21 5 0,-1 1 0,1 1 0,-26 4 0,41-3 0,0 0 0,0 0 0,0 1 0,1 1 0,-1 0 0,1 0 0,0 0 0,0 1 0,0 0 0,1 0 0,-9 9 0,1 0 0,1 0 0,1 1 0,0 1 0,1 0 0,1 0 0,0 1 0,2 1 0,0 0 0,0 0 0,2 1 0,0 0 0,2 0 0,0 0 0,1 1 0,0 0 0,2-1 0,0 34 0,2 2 0,3 67 0,-1-113 0,1-1 0,0 1 0,1-1 0,-1 0 0,2 0 0,-1-1 0,1 1 0,0-1 0,0 0 0,1 0 0,0-1 0,13 11 0,28 37 0,-35-40 0,0 0 0,0-1 0,2 0 0,0-1 0,28 19 0,-35-27 0,1 0 0,-1-1 0,1 0 0,0 0 0,0-1 0,0 0 0,0 0 0,1 0 0,-1-2 0,0 1 0,1-1 0,-1 0 0,0 0 0,17-4 0,-6 1 0,0-2 0,-1 0 0,1-1 0,-1-1 0,22-11 0,-25 8 0,-1 0 0,0-1 0,0 0 0,13-16 0,-1 2 0,-23 22 0,0-1 0,-1 1 0,1-1 0,-1 0 0,0 0 0,0 0 0,2-7 0,-3 8 0,1 0 0,-1 0 0,0 0 0,1 0 0,-1 0 0,1 0 0,0 0 0,0 1 0,0-1 0,5-4 0,-7 7 0,1 1 0,-1-1 0,1 0 0,0 0 0,-1 0 0,1 1 0,-1-1 0,1 0 0,-1 1 0,1-1 0,-1 1 0,1-1 0,-1 0 0,1 1 0,-1-1 0,1 1 0,-1-1 0,0 1 0,1 0 0,-1-1 0,0 1 0,0-1 0,1 1 0,-1-1 0,0 1 0,0 0 0,0-1 0,0 1 0,0 0 0,0-1 0,0 1 0,0-1 0,0 1 0,0 0 0,0-1 0,0 2 0,3 28 0,-5 125 0,3 53 0,2-188 0,0 0 0,1 0 0,1 0 0,9 22 0,-14-41 3,0-1-1,0 0 0,0 1 1,0-1-1,0 0 1,0 1-1,0-1 1,0 0-1,0 1 0,0-1 1,1 0-1,-1 1 1,0-1-1,0 0 0,0 0 1,0 1-1,0-1 1,1 0-1,-1 1 1,0-1-1,0 0 0,0 0 1,1 1-1,-1-1 1,0 0-1,0 0 0,1 0 1,-1 1-1,0-1 1,1 0-1,-1 0 1,0 0-1,0 0 0,1 0 1,-1 0-1,0 0 1,1 1-1,-1-1 0,0 0 1,1 0-1,-1 0 1,0 0-1,1 0 0,-1 0 1,1-1-1,-1-15-1478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14.5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24575,'0'2'0,"1"-1"0,0 0 0,-1 0 0,1 0 0,0 0 0,-1 0 0,1 0 0,0 0 0,0 0 0,0 0 0,0 0 0,0 0 0,0-1 0,0 1 0,0 0 0,0-1 0,0 1 0,0-1 0,3 1 0,30 13 0,-24-11 0,5 2 0,1-1 0,-1-1 0,1-1 0,0 0 0,0-1 0,30-1 0,-27-1 0,0 1 0,0 1 0,0 1 0,23 5 0,-17-1 41,1-2 0,49 2 0,-48-5-537,-1 1 0,43 10 0,-52-8-6330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15.0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664 80 24575,'0'-2'0,"0"0"0,-1 0 0,1-1 0,0 1 0,-1 0 0,0 0 0,1 0 0,-1-1 0,0 1 0,0 0 0,0 0 0,0 0 0,-1 1 0,1-1 0,0 0 0,-1 0 0,0 1 0,1-1 0,-3-1 0,-1 0 0,0-1 0,0 1 0,0 0 0,0 1 0,-1-1 0,1 1 0,-8-2 0,-6 0 0,1 1 0,-1 0 0,-32 0 0,-12 2 0,-155 4 0,209-2 0,0 1 0,0 0 0,1 0 0,-1 1 0,0 0 0,1 0 0,0 1 0,0 0 0,0 0 0,0 1 0,1 0 0,0 0 0,0 1 0,0 0 0,1 0 0,0 1 0,0 0 0,0 0 0,-5 10 0,3-5 0,1 1 0,1 0 0,1 0 0,-1 1 0,2-1 0,0 1 0,1 0 0,0 1 0,1-1 0,1 0 0,0 18 0,1-18 0,1 0 0,0 0 0,1 0 0,1 0 0,0-1 0,1 1 0,0-1 0,1 0 0,0 0 0,1-1 0,1 1 0,0-1 0,0-1 0,2 1 0,-1-1 0,1-1 0,1 1 0,0-2 0,0 1 0,1-1 0,0-1 0,1 0 0,-1-1 0,23 11 0,-4-6 0,1-2 0,0-1 0,1-1 0,0-1 0,58 3 0,-76-8 0,0 0 0,0-1 0,0-1 0,0 0 0,0-1 0,0 0 0,0-2 0,0 1 0,-1-2 0,1 1 0,22-11 0,-5-1-341,2 1 0,0 1-1,61-14 1,-72 23-6485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15.3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583 1 24575,'-2'3'0,"0"1"0,0 0 0,-1-1 0,0 0 0,1 1 0,-1-1 0,0 0 0,-1 0 0,1-1 0,0 1 0,-1-1 0,0 0 0,-5 3 0,-7 6 0,-3 5 0,1 2 0,1 0 0,0 1 0,1 0 0,1 2 0,-20 37 0,-50 61 0,56-81 0,-38 63 0,19-15 0,-74 143 0,108-210 0,14-19 0,0 0 0,-1 0 0,1 0 0,-1 0 0,1 0 0,0 0 0,-1 1 0,1-1 0,0 0 0,-1 0 0,1 0 0,0 0 0,-1-1 0,1 1 0,0 0 0,-1 0 0,1 0 0,0 0 0,-1 0 0,1 0 0,0 0 0,-1-1 0,1 1 0,0 0 0,-1 0 0,1 0 0,0-1 0,0 1 0,-1 0 0,1-1 0,0 1 0,-1-1 0,0-1 0,0 0 0,0 0 0,0 0 0,1-1 0,-1 1 0,1-1 0,-1 1 0,1 0 0,0-1 0,0 1 0,0-1 0,0 1 0,0 0 0,0-1 0,1-2 0,6-26-195,1-1 0,1 1 0,2 0 0,0 1 0,3 0 0,29-49 0,-26 57-6631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15.7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24575,'3'0'0,"-1"1"0,0 0 0,0 0 0,0 0 0,0 1 0,0-1 0,0 0 0,0 1 0,-1-1 0,1 1 0,0 0 0,-1-1 0,1 1 0,-1 0 0,2 2 0,20 33 0,-21-35 0,10 23 0,-1 1 0,-1 0 0,-1 1 0,-1 0 0,-1 0 0,3 33 0,-3-19 0,22 69 0,-5-24 0,-16-54 0,17 43 0,8-10 0,-31-61 0,1 0 0,-1 0 0,1 0 0,0 0 0,0-1 0,0 1 0,1-1 0,-1 0 0,1 0 0,-1 0 0,1-1 0,0 1 0,5 1 0,-7-3 0,1-1 0,-1 0 0,0 0 0,0-1 0,1 1 0,-1 0 0,0-1 0,0 0 0,0 1 0,0-1 0,1 0 0,-1 0 0,0 0 0,-1 0 0,1 0 0,3-3 0,32-27 0,-29 24 0,107-105 0,-104 102 0,-1-1 0,0 0 0,-1 0 0,8-14 0,29-32 0,11-14 0,-22 25 0,77-112 0,-33 50 0,-47 64-1365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16.1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24575,'0'4'0,"0"6"0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16.3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24575,'4'0'0,"2"5"0,-1 5 0,0 5 0,-2 5 0,3-1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18.3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154 1 24575,'0'662'0,"-1"-636"0,-2 0 0,-6 28 0,4-25 0,-2 43 0,-13 128 0,-11 89 0,29-273 0,-22 126 0,16-103 0,1-1 0,-4 72 0,10-91 0,-1 1 0,-9 35 0,1-6 0,9-47-22,1-6 72,-1-9-1443,2-3-5433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18.6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0 379 24575,'5'-1'0,"-1"-1"0,1 1 0,-1-1 0,0 0 0,0 0 0,1 0 0,-1 0 0,5-5 0,12-5 0,-3 5 0,0 1 0,0 2 0,0 0 0,30-3 0,-4 0 0,80-4 0,-84 9 0,51-9 0,71-15 0,-128 21 0,-27 4 0,0 0 0,0 0 0,0 0 0,0-1 0,10-4 0,-15 5 0,1 0 0,-1-1 0,0 1 0,0-1 0,-1 1 0,1-1 0,0 0 0,0 1 0,-1-1 0,1 0 0,-1 0 0,0 0 0,1-1 0,-1 1 0,0 0 0,0 0 0,0-1 0,-1 1 0,1 0 0,0-5 0,21-170-1365,-20 155-5461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19.0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1 24575,'0'815'0,"-2"-786"0,-10 57 0,7-57 0,-3 55 0,9 246-1365,-1-308-5461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20.0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 0 24575,'2'107'0,"-5"117"0,-9-155 0,8-51 0,0 0 0,-1 29 0,-9 38 0,11-74 0,0-1 0,1 1 0,0 0 0,0 0 0,1 0 0,1 0 0,0 0 0,0 0 0,1 0 0,1 0 0,0 0 0,5 16 0,-5-23 0,0 0 0,1-1 0,-1 0 0,1 1 0,0-1 0,0 0 0,0 0 0,0-1 0,1 1 0,-1-1 0,1 1 0,0-1 0,-1 0 0,1-1 0,0 1 0,0 0 0,0-1 0,0 0 0,0 0 0,5 0 0,-4 0 0,-1 0 0,1-1 0,0 1 0,0-1 0,0 0 0,0-1 0,0 1 0,-1-1 0,1 0 0,0 0 0,0-1 0,-1 1 0,1-1 0,-1 0 0,1 0 0,7-6 0,29-36 0,-36 37 0,0 0 0,1 1 0,0-1 0,1 1 0,-1 1 0,1-1 0,14-8 0,-18 13-80,1-1 0,-1 0-1,1 0 1,-1 0 0,0 0-1,0-1 1,0 1 0,0-1-1,0 0 1,-1 0 0,1 0 0,-1 0-1,0 0 1,0 0 0,0-1-1,3-6 1,-1-7-6746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20.4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24575,'4'0'0,"6"0"0,6 0 0,4 0 0,3 0 0,2 0 0,1 0 0,-4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21.2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24575,'1'1'0,"0"-1"0,1 1 0,-1-1 0,0 1 0,0-1 0,0 1 0,0 0 0,0-1 0,0 1 0,0 0 0,0 0 0,-1 0 0,1 0 0,0-1 0,0 1 0,-1 0 0,1 1 0,-1-1 0,1 0 0,-1 0 0,1 0 0,-1 0 0,1 0 0,-1 0 0,0 1 0,0-1 0,0 2 0,5 39 0,-4-37 0,11 86 0,-6-62 0,2 58 0,-7-3 0,-4 136 0,1-198-341,-2 0 0,-1-1-1,-12 37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22.0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24575,'4'0'0,"7"0"0,4 0 0,5 0 0,3 0 0,2 0 0,2 0 0,-1 0 0,1 0 0,-1 0 0,0 0 0,-5 0-8191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22.5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24575,'0'484'-1365,"0"-462"-5461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23.5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261 0 24575,'-1'5'0,"0"-1"0,-1 1 0,1-1 0,-1 0 0,0 1 0,-1-1 0,1 0 0,-5 6 0,-5 11 0,-190 377 0,197-385 0,0 0 0,1 0 0,1 0 0,0 1 0,1 0 0,0-1 0,1 1 0,1 0 0,0 0 0,1 0 0,0 0 0,1-1 0,1 1 0,0-1 0,1 1 0,0-1 0,1 0 0,8 14 0,-4-14 0,2 0 0,0 0 0,0-2 0,1 1 0,1-1 0,0-1 0,0 0 0,1-1 0,0-1 0,0 0 0,1-1 0,0 0 0,29 8 0,22-6-1365,-45-8-5461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24.3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24575,'7'5'0,"-1"0"0,1 0 0,-1 1 0,0-1 0,10 14 0,-13-16 0,16 22 0,0 2 0,-2 0 0,-1 1 0,21 51 0,-27-53 0,-1 1 0,-1-1 0,-1 1 0,-2 1 0,0-1 0,-2 1 0,-2 0 0,0 0 0,-6 52 0,3-72 0,0 0 0,-1-1 0,0 0 0,0 0 0,-1 0 0,0 0 0,0 0 0,0 0 0,-1-1 0,0 0 0,0 0 0,-7 5 0,-23 33 0,-8 7 0,15-20 0,17-18-1365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28.4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24575,'35'0'0,"0"1"0,0 1 0,48 10 0,-37-5 0,0-2 0,-1-2 0,88-5 0,-30-1 0,23 3-1365,-104 0-5461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28.8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24575,'56'2'0,"77"13"0,-119-13 0,43 3 0,0-2 0,62-6 0,-53 1 0,67 6 0,-64 8 0,-51-8 0,1 0 0,28 1 0,-23-4-1365,-2-1-5461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32.1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869 219 24575,'-1'-2'0,"0"0"0,0 0 0,0 0 0,0 0 0,-1 0 0,1 0 0,0 0 0,-1 0 0,1 0 0,-1 1 0,0-1 0,0 1 0,1-1 0,-1 1 0,-2-2 0,-33-20 0,36 22 0,-33-16 0,0 2 0,-1 1 0,0 2 0,-52-11 0,-7-3 0,42 14 0,0 1 0,-94-6 0,117 14 0,1-4 0,-13 0 0,40 7 0,0 0 0,-1 0 0,1 0 0,0 1 0,-1-1 0,1 0 0,0 1 0,0-1 0,0 1 0,-1-1 0,1 1 0,0-1 0,0 1 0,0 0 0,0 0 0,0 0 0,0 0 0,0-1 0,0 1 0,0 0 0,1 0 0,-1 1 0,0-1 0,1 0 0,-1 0 0,1 0 0,-2 2 0,-5 20 0,1 1 0,1-1 0,1 1 0,2 0 0,-1 29 0,0-1 0,-9 25 0,7-52 0,2-1 0,-2 28 0,3-19 0,-1-1 0,-2 1 0,-10 33 0,7-35 0,2 1 0,1 0 0,-2 39 0,6-34 0,0-24 0,0 0 0,1-1 0,0 1 0,1 0 0,1 0 0,5 21 0,-7-33 0,0 0 0,0 0 0,0 0 0,0 0 0,0 0 0,1 0 0,-1 0 0,0 0 0,1-1 0,-1 1 0,1 0 0,-1 0 0,1 0 0,-1-1 0,1 1 0,0 0 0,-1-1 0,1 1 0,0-1 0,-1 1 0,1 0 0,0-1 0,0 0 0,0 1 0,-1-1 0,1 1 0,0-1 0,0 0 0,0 0 0,0 1 0,0-1 0,0 0 0,0 0 0,-1 0 0,1 0 0,0 0 0,0 0 0,0 0 0,0 0 0,0-1 0,0 1 0,0 0 0,0 0 0,-1-1 0,1 1 0,0-1 0,0 1 0,0-1 0,-1 1 0,1-1 0,0 1 0,-1-1 0,1 0 0,0 1 0,-1-1 0,1 0 0,-1 1 0,1-1 0,0-1 0,7-8 0,-1-1 0,-1 1 0,9-18 0,-10 19 0,-3 6 0,18-33 0,-2-1 0,-1 0 0,15-46 0,-16 30 0,-7 27 0,-1 0 0,-2 0 0,0 0 0,-2-1 0,1-38 0,-6-62-1365,1 105-5461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32.9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435 1 24575,'-2'8'0,"0"0"0,-1 0 0,1 0 0,-2 0 0,1-1 0,-1 1 0,0-1 0,-9 12 0,1 0 0,-30 48 0,21-35 0,2 0 0,-18 41 0,24-46 0,-27 42 0,-5 8 0,-3 14 0,33-67 0,1 1 0,1 1 0,2 0 0,0 0 0,-9 41 0,9-17 0,2-10 0,-6 54 0,14-82 0,1 1 0,0 0 0,0 0 0,2-1 0,-1 1 0,2-1 0,0 1 0,6 18 0,-6-27 0,-1 1 0,1-1 0,-1 0 0,1 0 0,1 0 0,-1 0 0,0 0 0,1-1 0,0 1 0,0-1 0,0 0 0,7 3 0,62 30 0,-23-13 0,-25-9-682,50 19-1,-58-28-6143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33.8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24575,'1'83'0,"17"115"0,-9-83 0,-8-75 0,11 59 0,-1 1 0,-9-67 0,10 47 0,14 97 0,-19-134-1365,-5-23-5461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34.5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53 24575,'0'-2'0,"1"0"0,-1-1 0,1 1 0,0 0 0,0 0 0,0 0 0,0 0 0,0 0 0,0 0 0,0 0 0,1 0 0,-1 0 0,1 1 0,0-1 0,-1 0 0,1 1 0,0 0 0,0-1 0,0 1 0,0 0 0,0 0 0,0 0 0,0 0 0,0 0 0,0 1 0,1-1 0,-1 0 0,0 1 0,3 0 0,10-3 0,0 0 0,29 1 0,-43 2 0,333 1 0,-323 0 0,0 0 0,0 1 0,0 0 0,0 1 0,0 0 0,-1 0 0,0 1 0,1 1 0,-1 0 0,-1 0 0,1 1 0,-1 0 0,11 10 0,-6-5 0,-2 1 0,1 0 0,-2 1 0,1 0 0,-2 1 0,0 0 0,16 30 0,-19-28 0,0 0 0,-1 1 0,-1 0 0,0 0 0,-2 0 0,0 0 0,0 1 0,-2-1 0,0 1 0,-1-1 0,-4 29 0,3-41 0,-1-1 0,0 0 0,1 0 0,-1 0 0,0 0 0,-1-1 0,1 1 0,-1-1 0,0 1 0,0-1 0,0 0 0,-6 5 0,-50 30 0,13-9 0,25-15 0,0-2 0,-1 0 0,0-1 0,-35 11 0,-4 3 0,37-16 0,0-2 0,-1 0 0,1-2 0,-1 0 0,-1-2 0,1-1 0,-31-1 0,-28 3 0,67-2 0,0 0 0,0 1 0,0 1 0,1 1 0,-23 8 0,25-2-1365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1.0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27 24575,'0'-1'0,"1"0"0,-1 0 0,1 0 0,-1-1 0,1 1 0,0 0 0,-1 0 0,1 0 0,0 1 0,0-1 0,0 0 0,0 0 0,-1 0 0,1 1 0,0-1 0,1 0 0,-1 1 0,0-1 0,0 1 0,0-1 0,0 1 0,0-1 0,0 1 0,1 0 0,-1 0 0,0 0 0,2-1 0,39-3 0,-37 4 0,306-3 64,-161 5-1493,-128-2-5397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1.7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21 24575,'4'0'0,"6"0"0,6 0 0,4 0 0,3 0 0,2 0 0,1 0 0,1 0 0,-1 0 0,0 0 0,0 0 0,0 0 0,0 0 0,-1 0 0,1-5 0,-1 0 0,1-1 0,-5 2-8191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2.3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122 6 24575,'65'-2'0,"-40"0"0,1 1 0,-1 1 0,1 2 0,32 5 0,-55-6 0,0 0 0,0-1 0,0 1 0,0 1 0,0-1 0,-1 0 0,1 1 0,0-1 0,0 1 0,-1 0 0,1 0 0,-1 0 0,0 0 0,0 0 0,0 1 0,0-1 0,0 1 0,0-1 0,0 1 0,-1 0 0,1 0 0,-1 0 0,0-1 0,0 1 0,0 0 0,0 1 0,-1-1 0,1 0 0,-1 0 0,0 0 0,0 0 0,0 0 0,0 0 0,0 1 0,-2 5 0,1-5 0,0 1 0,0-1 0,-1 0 0,0 0 0,0 1 0,0-1 0,0 0 0,0-1 0,-1 1 0,0 0 0,0-1 0,0 1 0,0-1 0,0 0 0,-1 0 0,1 0 0,-1-1 0,0 1 0,0-1 0,0 0 0,0 0 0,0 0 0,0 0 0,-9 1 0,-17 3 0,-14 2 0,-1-1 0,-63 0 0,78-8 0,-32 2 0,62-1 0,0 0 0,0 0 0,0 0 0,0 0 0,-1 0 0,1 0 0,0 0 0,0 0 0,0 0 0,0 0 0,0 0 0,0 0 0,0 0 0,-1 0 0,1 0 0,0 0 0,0 0 0,0 0 0,0 0 0,0 0 0,0 0 0,0 0 0,0 0 0,-1 0 0,1 0 0,0 0 0,0 0 0,0 0 0,0 0 0,0 0 0,0 0 0,0 1 0,0-1 0,0 0 0,0 0 0,0 0 0,-1 0 0,1 0 0,0 0 0,0 0 0,0 0 0,0 0 0,0 1 0,0-1 0,0 0 0,0 0 0,0 0 0,0 0 0,0 0 0,0 0 0,0 0 0,0 1 0,0-1 0,0 0 0,0 0 0,0 0 0,0 0 0,0 0 0,0 0 0,1 0 0,-1 0 0,0 1 0,0-1 0,0 0 0,0 0 0,0 0 0,11 6 0,15 2 0,119 15 0,-124-19-170,0 0-1,1-1 0,-1-1 1,1-1-1,0-1 0,-1-1 1,43-7-1,-47 2-6655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2.6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 24575,'509'0'0,"-463"-4"-1365,-30-2-5461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2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24575,'0'5'0,"0"5"0,0 6 0,0 4 0,0 3 0,0 2 0,0 1 0,0 0 0,0 1 0,0-1 0,0-4-8191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4.6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304 1 24575,'0'48'0,"2"-10"0,-3 1 0,-1-1 0,-12 64 0,0-40 0,4-14 0,-32 91 0,27-100 0,-28 59 0,-73 94 0,68-120-1365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5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24575,'6'2'0,"-1"0"0,1 1 0,-1 0 0,0 0 0,0 0 0,0 0 0,-1 1 0,1 0 0,-1 0 0,0 0 0,8 10 0,-4-5 0,24 27 0,-1 2 0,-3 2 0,45 80 0,14 20 0,-77-124 0,-1 0 0,-1 1 0,9 25 0,16 31 0,26 50 0,-42-83 0,38 67 0,-45-92-1365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5.5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0 103 24575,'0'-5'0,"5"0"0,0-5 0,5 0 0,5 1 0,4 3 0,-2-3 0,2 1 0,-4-2 0,1-1 0,2 3 0,2 2 0,2 3 0,-3 1-8191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7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24575,'11'1'0,"-1"0"0,1 1 0,-1 0 0,14 5 0,36 6 0,73-11 0,-83-3 0,0 2 0,75 12 0,-90-8-455,-1-1 0,49-2 0,-61-2-6371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7.9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24575,'1'1'0,"0"-1"0,0 0 0,0 1 0,0-1 0,0 1 0,0-1 0,0 1 0,0-1 0,-1 1 0,1 0 0,0 0 0,0-1 0,0 1 0,-1 0 0,1 0 0,0 0 0,-1 0 0,1 0 0,-1 0 0,1 0 0,-1 0 0,0 0 0,1 0 0,-1 0 0,0 1 0,9 37 0,-6-25 0,11 40 0,-3 0 0,-2 1 0,-2 0 0,0 62 0,-6-83 0,12 63 0,-3-36 0,16 102 0,-23-142 0,1 0 0,1 0 0,0-1 0,2 1 0,0-2 0,2 1 0,17 30 0,-26-50-20,0 0-1,0 0 1,0-1 0,0 1-1,0 0 1,0 0 0,0 0-1,0-1 1,0 1-1,0 0 1,0 0 0,0 0-1,0 0 1,1-1 0,-1 1-1,0 0 1,0 0-1,0 0 1,0 0 0,0 0-1,1-1 1,-1 1 0,0 0-1,0 0 1,0 0-1,0 0 1,1 0 0,-1 0-1,0 0 1,0 0 0,0 0-1,0 0 1,1 0-1,-1 0 1,0 0 0,0 0-1,0 0 1,1 0-1,-1 0 1,0 0 0,0 0-1,0 0 1,1 0 0,-1 0-1,0 0 1,0 0-1,0 0 1,0 0 0,1 0-1,-1 1 1,0-1 0,0 0-1,0 0 1,0 0-1,0 0 1,1 0 0,-1 0-1,0 1 1,0-1 0,0 0-1,0 0 1,0 0-1,0 1 1,0-1 0,0 0-1,0 0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8.4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 24575,'90'-2'0,"100"5"0,-176-1 0,0 1 0,0 1 0,-1 0 0,23 10 0,27 8 0,-54-20 0,0 0 0,0 1 0,0 0 0,-1 0 0,0 1 0,0 0 0,0 1 0,0-1 0,0 1 0,-1 1 0,0 0 0,7 7 0,-9-7 0,-1 0 0,1 1 0,-1-1 0,-1 1 0,1 1 0,-1-1 0,0 0 0,-1 1 0,0-1 0,0 1 0,0 0 0,-1-1 0,-1 1 0,1 10 0,0 0 0,0 1 0,-2-1 0,0 1 0,-1-1 0,-1 1 0,0-1 0,-2 0 0,0 0 0,-1 0 0,-1-1 0,0 0 0,-1 0 0,-1-1 0,-1 0 0,0 0 0,-1-1 0,-1-1 0,-14 15 0,16-20 10,0-1 0,-1 0 0,0 0 0,0-1 0,-1 0 0,0-1 0,0-1 0,-1 0 0,1 0 0,-1-1 0,-17 3 0,-5-1-381,-1-2-1,1-1 1,-37-1 0,50-3-6455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9.2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 24575,'90'-2'0,"100"5"0,-185-2 0,-1 0 0,1 0 0,-1 0 0,1 1 0,-1-1 0,0 1 0,0 0 0,0 1 0,0-1 0,0 1 0,0-1 0,-1 1 0,1 0 0,-1 1 0,0-1 0,0 1 0,0-1 0,0 1 0,3 6 0,-3-5 0,0 0 0,-1 0 0,0 1 0,0-1 0,0 1 0,0-1 0,-1 1 0,0 0 0,0-1 0,-1 1 0,1 0 0,-1 0 0,-1 0 0,1-1 0,-2 10 0,0-12 0,1 0 0,-1 1 0,1-1 0,-1 0 0,0 0 0,0-1 0,0 1 0,0 0 0,-1 0 0,1-1 0,-1 0 0,0 1 0,0-1 0,1 0 0,-1 0 0,0-1 0,-1 1 0,1-1 0,0 1 0,0-1 0,-1 0 0,1 0 0,-1-1 0,1 1 0,-1-1 0,-3 1 0,-15 1 0,-1-1 0,0-2 0,-23-2 0,12 1 0,20 1 0,9 0 0,1 1 0,-1-1 0,1 1 0,0 0 0,-1 0 0,1 0 0,-1 1 0,1 0 0,0-1 0,-1 2 0,1-1 0,0 0 0,-7 4 0,11-4 0,0-1 0,-1 1 0,1-1 0,0 1 0,0-1 0,0 1 0,0-1 0,1 1 0,-1-1 0,0 1 0,0-1 0,0 0 0,0 1 0,0-1 0,1 1 0,-1-1 0,0 1 0,0-1 0,1 0 0,-1 1 0,0-1 0,0 1 0,1-1 0,-1 0 0,1 1 0,-1-1 0,0 0 0,1 0 0,-1 1 0,1-1 0,-1 0 0,0 0 0,1 0 0,-1 1 0,2-1 0,16 9 0,4 0 0,1-1 0,0-1 0,0-1 0,1-1 0,0-1 0,0-1 0,47 0 0,98-5-1365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9.6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62 24575,'1'-2'0,"-1"1"0,0 0 0,1 0 0,-1 0 0,1 0 0,0 0 0,-1 0 0,1 0 0,0 0 0,0 0 0,0 0 0,-1 0 0,1 1 0,0-1 0,0 0 0,0 0 0,0 1 0,0-1 0,0 1 0,1-1 0,-1 1 0,0-1 0,0 1 0,0 0 0,0 0 0,1-1 0,1 1 0,39-5 0,-38 5 0,118-12 0,66-2 0,-119 15 0,90-2 0,-139-3-1365,-3-2-5461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4:59.9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24575,'0'4'0,"0"6"0,0 6 0,0 4 0,0 3 0,0 2 0,4-3 0,1-1 0,1 0 0,-2 0 0,-1 2 0,-1 1 0,-1-4-8191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5:01.6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24575,'0'941'-1365,"0"-920"-5461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5:01.9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1 197 24575,'9'0'0,"-1"-2"0,1 1 0,0-1 0,-1-1 0,0 1 0,1-2 0,13-6 0,-12 5 0,-1 1 0,1 0 0,0 0 0,0 1 0,13-2 0,129-22 0,-140 24-14,-1 0-1,1-1 1,-1 0 0,0 0-1,0-2 1,0 1-1,-1-1 1,0-1-1,0 0 1,-1 0-1,1-1 1,13-16 0,14-9-1164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5:02.2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1 24575,'3'123'0,"-6"136"0,-10-174 0,8-54 0,-3 56 0,9 243-1365,-1-309-5461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5:02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1 24575,'19'53'0,"-12"1"0,-3 0 0,-6 105 0,-1-46 0,2-94 0,-1 0 0,-8 34 0,-3 33 0,11-49 0,0-22 0,1 0 0,1 1 0,0-1 0,1 1 0,1-1 0,6 29 0,-8-43 0,1 1 0,0 0 0,0 0 0,0 0 0,0-1 0,0 1 0,0-1 0,0 1 0,0-1 0,1 1 0,-1-1 0,1 1 0,-1-1 0,1 0 0,-1 0 0,1 0 0,0 0 0,0 0 0,-1 0 0,1-1 0,0 1 0,2 0 0,0 0 0,-1-1 0,1 0 0,0 0 0,-1 0 0,1-1 0,0 1 0,-1-1 0,1 0 0,0 0 0,-1 0 0,4-2 0,8-5 0,0 0 0,-1 0 0,26-21 0,-34 24-136,-1-1-1,1 0 1,-1 0-1,0 0 1,-1 0-1,0-1 1,0 0-1,0 0 0,5-14 1,-4 5-6690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5:03.2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 0 24575,'-1'29'0,"-2"-1"0,-6 31 0,4-30 0,-4 55 0,9-58 0,-1 0 0,-2 0 0,-7 34 0,7-45 0,-1 1 0,2-1 0,0 0 0,1 23 0,1-35 0,0 0 0,0 0 0,0 0 0,0 0 0,1-1 0,0 1 0,-1 0 0,1 0 0,0-1 0,0 1 0,0 0 0,1-1 0,-1 1 0,1-1 0,-1 1 0,1-1 0,0 0 0,0 0 0,0 0 0,0 0 0,0 0 0,0 0 0,1-1 0,-1 1 0,1-1 0,-1 1 0,1-1 0,-1 0 0,1 0 0,0 0 0,2 0 0,43 3-1365,-26-5-5461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5:03.6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24575,'1'2'0,"0"-1"0,-1 1 0,1 0 0,0-1 0,0 1 0,0-1 0,0 0 0,0 1 0,0-1 0,1 0 0,-1 1 0,0-1 0,1 0 0,2 2 0,12 13 0,-4 4 0,-2 0 0,-1 1 0,0 0 0,-2 1 0,7 30 0,-12-42 0,0 1 0,-1 0 0,0-1 0,-1 1 0,0 0 0,0-1 0,-1 1 0,-1 0 0,0-1 0,0 1 0,-1-1 0,0 0 0,-8 16 0,-25 41-1365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5:05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24575,'10'11'0,"-1"0"0,0 1 0,0 0 0,-2 0 0,10 20 0,3 11 0,-1 1 0,-3 1 0,11 49 0,29 129 0,-56-222 0,1 1 0,-1 0 0,1-1 0,-1 1 0,1 0 0,-1-1 0,1 1 0,0-1 0,0 1 0,0-1 0,0 1 0,0-1 0,0 0 0,0 1 0,0-1 0,1 0 0,-1 0 0,0 0 0,1 0 0,-1 0 0,1 0 0,-1 0 0,1-1 0,-1 1 0,1-1 0,2 2 0,0-2 0,-1-1 0,0 1 0,0-1 0,0 1 0,1-1 0,-1 0 0,0 0 0,0 0 0,0 0 0,-1-1 0,1 1 0,0-1 0,3-2 0,8-6 0,-1-1 0,-1-1 0,1 0 0,14-19 0,168-191 0,-163 174 0,-24 35 0,0 0 0,1 0 0,1 1 0,0 1 0,15-15 0,-25 26 0,1-1 0,0 1 0,-1-1 0,1 1 0,0-1 0,0 1 0,-1 0 0,1-1 0,0 1 0,0 0 0,0-1 0,-1 1 0,1 0 0,0 0 0,0 0 0,0 0 0,0 0 0,-1 0 0,1 0 0,0 0 0,0 0 0,0 0 0,0 0 0,0 1 0,-1-1 0,1 0 0,1 1 0,0 1 0,0-1 0,-1 1 0,1-1 0,-1 1 0,1 0 0,-1-1 0,1 1 0,-1 0 0,0 0 0,2 4 0,16 61 0,-16-53 0,40 177 0,-23-96 0,-8-24 0,-9-45 0,12 44 0,-9-65 0,2-14 0,6-18 0,-12 23 0,43-84 0,61-87 0,-22 29 0,-76 130-341,0 0 0,-1-1-1,6-23 1,-8 23-6485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5:05.6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24575,'0'535'0,"0"-531"0,0-1 0,0 1 0,1 0 0,-1 0 0,1-1 0,0 1 0,0-1 0,0 1 0,0-1 0,0 1 0,1-1 0,0 1 0,0-1 0,0 0 0,0 0 0,2 3 0,-2-5 0,0 0 0,-1 0 0,1 0 0,0 0 0,0 0 0,0 0 0,0-1 0,-1 1 0,1 0 0,0-1 0,0 0 0,0 1 0,0-1 0,0 0 0,0 0 0,1 0 0,-1 0 0,0-1 0,0 1 0,0-1 0,-1 1 0,1-1 0,0 1 0,0-1 0,0 0 0,0 0 0,0 0 0,-1 0 0,1 0 0,0-1 0,1 0 0,49-36 37,-29 20-738,40-22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5:06.1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0 24575,'-2'125'0,"5"133"0,-1-243-116,2-1 1,0 1-1,1-1 0,0 1 0,1-1 0,13 21 0,-15-25-438,6 8-6272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5:06.5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24575,'5'0'0,"5"0"0,1 5 0,-1 5 0,2 1 0,-2 3 0,-1 4 0,1-2 0,-1 1 0,3-2 0,-2 0 0,-1 3 0,-3 1 0,-2 3 0,2-3 0,0 0 0,0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1:55:07.2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24575,'2'7'0,"0"0"0,1-1 0,0 1 0,0 0 0,1-1 0,0 0 0,5 8 0,-6-10 0,93 158 0,-44-69 0,-26-43 0,37 102 0,-45-104 0,-5-6 0,-2 1 0,-2 0 0,-1 0 0,1 59 0,13 71 0,-9-79 0,-4 0 0,-5 1 0,-7 95 0,1-37 0,2-103 0,2-22 0,-2 0 0,-1 0 0,-1 0 0,-2 0 0,-11 47 0,0-27 0,-2 0 0,-2-1 0,-2-1 0,-33 53 0,31-59 0,18-30 0,0-1 0,-1 1 0,-1-1 0,1 0 0,-1 0 0,-1-1 0,-8 8 0,-17 10-1365,16-15-5461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D2575-7536-41F9-99A1-D013D815563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CD5EC-8EB0-4E7A-9543-1590413CA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67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时刻的边的合集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ar-AE" altLang="zh-CN" i="0">
                    <a:latin typeface="Cambria Math" panose="02040503050406030204" pitchFamily="18" charset="0"/>
                  </a:rPr>
                  <a:t>ℰ_</a:t>
                </a:r>
                <a:r>
                  <a:rPr lang="zh-CN" altLang="ar-AE" i="0">
                    <a:latin typeface="Cambria Math" panose="02040503050406030204" pitchFamily="18" charset="0"/>
                  </a:rPr>
                  <a:t>𝑡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时刻的边的合集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D5EC-8EB0-4E7A-9543-1590413CAD9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929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𝒩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𝑣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𝑡 节点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的邻居合集</a:t>
            </a:r>
            <a:b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𝑊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𝑠 维度是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DxF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，线性变化矩阵将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维度投影到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维度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D5EC-8EB0-4E7A-9543-1590413CAD9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505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先把位置向量并入结构表示 → 再做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Q/K/V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线性投影 → 再做带因果掩码的自注意力</a:t>
            </a:r>
            <a:b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这里可以用加法或者拼接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线性的方法加入位置信息， 展示的是直接加法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D5EC-8EB0-4E7A-9543-1590413CAD9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579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链路预测</a:t>
                </a:r>
                <a:r>
                  <a:rPr lang="zh-CN" altLang="en-US" dirty="0"/>
                  <a:t>：给定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𝑢</m:t>
                        </m:r>
                      </m:e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𝑣</m:t>
                        </m:r>
                      </m:e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ar-AE" dirty="0"/>
                  <a:t>，</a:t>
                </a:r>
                <a:r>
                  <a:rPr lang="zh-CN" altLang="en-US" dirty="0"/>
                  <a:t>用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𝜎</m:t>
                    </m:r>
                    <m:d>
                      <m:d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𝜙</m:t>
                        </m:r>
                        <m:d>
                          <m:dPr>
                            <m:sepChr m:val=","/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altLang="zh-CN" sz="120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zh-CN" altLang="ar-AE" sz="120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zh-CN" altLang="ar-AE" sz="120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𝑢</m:t>
                                </m:r>
                              </m:sub>
                              <m:sup>
                                <m:r>
                                  <a:rPr lang="zh-CN" altLang="ar-AE" sz="120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ar-AE" altLang="zh-CN" sz="120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zh-CN" altLang="ar-AE" sz="120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zh-CN" altLang="ar-AE" sz="120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zh-CN" altLang="ar-AE" sz="120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估计连边概率。也可以用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0"/>
                      <m:t>MLP</m:t>
                    </m:r>
                    <m:d>
                      <m:dPr>
                        <m:ctrlPr>
                          <a:rPr lang="ar-AE" altLang="zh-CN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ar-AE" altLang="zh-CN" sz="1200" b="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altLang="zh-CN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zh-CN" altLang="ar-AE" b="0" i="1"/>
                                  <m:t>𝑒</m:t>
                                </m:r>
                              </m:e>
                              <m:sub>
                                <m:r>
                                  <a:rPr lang="zh-CN" altLang="ar-AE" b="0" i="1"/>
                                  <m:t>𝑢</m:t>
                                </m:r>
                              </m:sub>
                              <m:sup>
                                <m:r>
                                  <a:rPr lang="zh-CN" altLang="ar-AE" b="0" i="1"/>
                                  <m:t>𝑡</m:t>
                                </m:r>
                              </m:sup>
                            </m:sSubSup>
                            <m:r>
                              <a:rPr lang="ar-AE" altLang="zh-CN" sz="1200" b="0" i="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∥</m:t>
                            </m:r>
                            <m:sSubSup>
                              <m:sSubSupPr>
                                <m:ctrlPr>
                                  <a:rPr lang="ar-AE" altLang="zh-CN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ar-AE" altLang="zh-CN" sz="1200" b="0" i="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∥</m:t>
                            </m:r>
                            <m:sSubSup>
                              <m:sSubSupPr>
                                <m:ctrlPr>
                                  <a:rPr lang="ar-AE" altLang="zh-CN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𝑢</m:t>
                                </m:r>
                              </m:sub>
                              <m:sup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ar-AE" altLang="zh-CN" sz="1200" b="0" i="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⊙</m:t>
                            </m:r>
                            <m:sSubSup>
                              <m:sSubSupPr>
                                <m:ctrlPr>
                                  <a:rPr lang="ar-AE" altLang="zh-CN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r>
                  <a:rPr lang="zh-CN" altLang="ar-AE" dirty="0"/>
                  <a:t>。</a:t>
                </a:r>
              </a:p>
              <a:p>
                <a:r>
                  <a:rPr lang="zh-CN" altLang="en-US" b="1" dirty="0"/>
                  <a:t>节点分类</a:t>
                </a:r>
                <a:r>
                  <a:rPr lang="zh-CN" altLang="en-US" dirty="0"/>
                  <a:t>：选一个时间点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𝑡</m:t>
                        </m:r>
                      </m:e>
                      <m:sup>
                        <m:r>
                          <m:rPr>
                            <m:nor/>
                          </m:rPr>
                          <a:rPr lang="ar-AE" altLang="zh-CN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\</m:t>
                        </m:r>
                        <m:r>
                          <m:rPr>
                            <m:nor/>
                          </m:rPr>
                          <a:rPr lang="ar-AE" altLang="zh-CN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的嵌入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𝑒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𝑣</m:t>
                        </m:r>
                      </m:sub>
                      <m:sup>
                        <m:sSup>
                          <m:sSup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ar-AE" altLang="zh-CN" sz="1200" b="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\</m:t>
                            </m:r>
                            <m:r>
                              <m:rPr>
                                <m:nor/>
                              </m:rPr>
                              <a:rPr lang="ar-AE" altLang="zh-CN" sz="1200" b="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∗</m:t>
                            </m:r>
                          </m:sup>
                        </m:sSup>
                      </m:sup>
                    </m:sSubSup>
                  </m:oMath>
                </a14:m>
                <a:r>
                  <a:rPr lang="zh-CN" altLang="en-US" dirty="0"/>
                  <a:t>接</a:t>
                </a:r>
                <a:r>
                  <a:rPr lang="en-US" altLang="zh-CN" dirty="0"/>
                  <a:t>MLP </a:t>
                </a:r>
                <a:r>
                  <a:rPr lang="zh-CN" altLang="en-US" dirty="0"/>
                  <a:t>分类器。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链路预测</a:t>
                </a:r>
                <a:r>
                  <a:rPr lang="zh-CN" altLang="en-US" dirty="0"/>
                  <a:t>：给定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𝑢ⓜ,𝑣ⓜ,𝑡)</a:t>
                </a:r>
                <a:r>
                  <a:rPr lang="zh-CN" altLang="ar-AE" dirty="0"/>
                  <a:t>，</a:t>
                </a:r>
                <a:r>
                  <a:rPr lang="zh-CN" altLang="en-US" dirty="0"/>
                  <a:t>用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𝜙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𝑢^𝑡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𝑣^𝑡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))</a:t>
                </a:r>
                <a:r>
                  <a:rPr lang="zh-CN" altLang="en-US" dirty="0"/>
                  <a:t>估计连边概率。也可以用 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"MLP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([</a:t>
                </a:r>
                <a:r>
                  <a:rPr lang="zh-CN" altLang="ar-AE" b="0" i="0"/>
                  <a:t>𝑒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b="0" i="0"/>
                  <a:t>𝑢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zh-CN" altLang="ar-AE" b="0" i="0"/>
                  <a:t>𝑡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∥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𝑣^𝑡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∥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𝑢^𝑡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⊙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𝑣^𝑡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])</a:t>
                </a:r>
                <a:r>
                  <a:rPr lang="zh-CN" altLang="ar-AE" dirty="0"/>
                  <a:t>。</a:t>
                </a:r>
              </a:p>
              <a:p>
                <a:r>
                  <a:rPr lang="zh-CN" altLang="en-US" b="1" dirty="0"/>
                  <a:t>节点分类</a:t>
                </a:r>
                <a:r>
                  <a:rPr lang="zh-CN" altLang="en-US" dirty="0"/>
                  <a:t>：选一个时间点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"\∗" </a:t>
                </a:r>
                <a:r>
                  <a:rPr lang="zh-CN" altLang="en-US" dirty="0"/>
                  <a:t>的嵌入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𝑣^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"\∗"  )</a:t>
                </a:r>
                <a:r>
                  <a:rPr lang="zh-CN" altLang="en-US" dirty="0"/>
                  <a:t>接</a:t>
                </a:r>
                <a:r>
                  <a:rPr lang="en-US" altLang="zh-CN" dirty="0"/>
                  <a:t>MLP </a:t>
                </a:r>
                <a:r>
                  <a:rPr lang="zh-CN" altLang="en-US" dirty="0"/>
                  <a:t>分类器。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D5EC-8EB0-4E7A-9543-1590413CAD9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938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zh-CN" altLang="en-US" dirty="0"/>
                  <a:t>是（对称）归一化邻接；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每个 </a:t>
                </a:r>
                <a:r>
                  <a:rPr lang="en-US" altLang="zh-CN" dirty="0"/>
                  <a:t>hop </a:t>
                </a:r>
                <a:r>
                  <a:rPr lang="zh-CN" altLang="en-US" dirty="0"/>
                  <a:t>一个投影；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en-US" dirty="0"/>
              </a:p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dirty="0"/>
                  <a:t> 可以通过 </a:t>
                </a:r>
                <a:r>
                  <a:rPr lang="en-US" altLang="zh-CN" dirty="0"/>
                  <a:t>Layer-wise scalars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Node-wise gates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Hop-attention</a:t>
                </a:r>
                <a:r>
                  <a:rPr lang="zh-CN" altLang="en-US" dirty="0"/>
                  <a:t>等方式学习，本文没有明确说明</a:t>
                </a:r>
                <a:endParaRPr lang="en-US" altLang="zh-CN" dirty="0"/>
              </a:p>
              <a:p>
                <a:pPr/>
                <a:endParaRPr lang="en-US" altLang="zh-CN" dirty="0"/>
              </a:p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r>
                          <m:rPr>
                            <m:nor/>
                          </m:rPr>
                          <a:rPr lang="ar-AE" altLang="zh-CN" i="1"/>
                          <m:t> 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ar-AE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dirty="0"/>
                  <a:t>：</a:t>
                </a:r>
                <a:r>
                  <a:rPr lang="zh-CN" altLang="en-US" b="1" dirty="0"/>
                  <a:t>邻居的邻居，</a:t>
                </a:r>
                <a:r>
                  <a:rPr lang="en-US" altLang="zh-CN" b="1" dirty="0"/>
                  <a:t>k</a:t>
                </a:r>
                <a:r>
                  <a:rPr lang="zh-CN" altLang="en-US" b="1" dirty="0"/>
                  <a:t>的增加代表着关联越远</a:t>
                </a:r>
                <a:endParaRPr lang="en-US" altLang="zh-CN" b="1" dirty="0"/>
              </a:p>
              <a:p>
                <a:pPr/>
                <a:endParaRPr lang="en-US" altLang="zh-CN" b="1" dirty="0"/>
              </a:p>
              <a:p>
                <a:pPr/>
                <a:r>
                  <a:rPr lang="zh-CN" altLang="en-US" b="1" dirty="0"/>
                  <a:t>将上一层的输出转化为下一层的输入，</a:t>
                </a:r>
                <a:r>
                  <a:rPr lang="zh-CN" altLang="en-US" dirty="0"/>
                  <a:t>聚合其他</a:t>
                </a:r>
                <a:r>
                  <a:rPr lang="zh-CN" altLang="en-US" b="1" dirty="0"/>
                  <a:t>信息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ar-AE" i="0">
                    <a:latin typeface="Cambria Math" panose="02040503050406030204" pitchFamily="18" charset="0"/>
                  </a:rPr>
                  <a:t>𝐴</a:t>
                </a:r>
                <a:r>
                  <a:rPr lang="ar-AE" altLang="zh-CN" i="0">
                    <a:latin typeface="Cambria Math" panose="02040503050406030204" pitchFamily="18" charset="0"/>
                  </a:rPr>
                  <a:t> ̂</a:t>
                </a:r>
                <a:r>
                  <a:rPr lang="zh-CN" altLang="en-US" dirty="0"/>
                  <a:t>是（对称）归一化邻接；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W </a:t>
                </a:r>
                <a:r>
                  <a:rPr lang="zh-CN" altLang="en-US" dirty="0"/>
                  <a:t>每个 </a:t>
                </a:r>
                <a:r>
                  <a:rPr lang="en-US" altLang="zh-CN" dirty="0"/>
                  <a:t>hop </a:t>
                </a:r>
                <a:r>
                  <a:rPr lang="zh-CN" altLang="en-US" dirty="0"/>
                  <a:t>一个投影；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en-US" dirty="0"/>
              </a:p>
              <a:p>
                <a:pPr/>
                <a:r>
                  <a:rPr lang="zh-CN" altLang="ar-AE" i="0">
                    <a:latin typeface="Cambria Math" panose="02040503050406030204" pitchFamily="18" charset="0"/>
                  </a:rPr>
                  <a:t>𝛼</a:t>
                </a:r>
                <a:r>
                  <a:rPr lang="ar-AE" altLang="zh-CN" i="0">
                    <a:latin typeface="Cambria Math" panose="02040503050406030204" pitchFamily="18" charset="0"/>
                  </a:rPr>
                  <a:t>_</a:t>
                </a:r>
                <a:r>
                  <a:rPr lang="zh-CN" altLang="ar-AE" i="0">
                    <a:latin typeface="Cambria Math" panose="02040503050406030204" pitchFamily="18" charset="0"/>
                  </a:rPr>
                  <a:t>𝑘^</a:t>
                </a:r>
                <a:r>
                  <a:rPr lang="ar-AE" altLang="zh-CN" i="0">
                    <a:latin typeface="Cambria Math" panose="02040503050406030204" pitchFamily="18" charset="0"/>
                  </a:rPr>
                  <a:t>((</a:t>
                </a:r>
                <a:r>
                  <a:rPr lang="zh-CN" altLang="ar-AE" i="0">
                    <a:latin typeface="Cambria Math" panose="02040503050406030204" pitchFamily="18" charset="0"/>
                  </a:rPr>
                  <a:t>𝑛) </a:t>
                </a:r>
                <a:r>
                  <a:rPr lang="ar-AE" altLang="zh-CN" i="0">
                    <a:latin typeface="Cambria Math" panose="02040503050406030204" pitchFamily="18" charset="0"/>
                  </a:rPr>
                  <a:t>)</a:t>
                </a:r>
                <a:r>
                  <a:rPr lang="zh-CN" altLang="en-US" dirty="0"/>
                  <a:t> 可以通过 </a:t>
                </a:r>
                <a:r>
                  <a:rPr lang="en-US" altLang="zh-CN" dirty="0"/>
                  <a:t>Layer-wise scalars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Node-wise gates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Hop-attention</a:t>
                </a:r>
                <a:r>
                  <a:rPr lang="zh-CN" altLang="en-US" dirty="0"/>
                  <a:t>等方式学习，本文没有明确说明</a:t>
                </a:r>
                <a:endParaRPr lang="en-US" altLang="zh-CN" dirty="0"/>
              </a:p>
              <a:p>
                <a:pPr/>
                <a:endParaRPr lang="en-US" altLang="zh-CN" dirty="0"/>
              </a:p>
              <a:p>
                <a:pPr/>
                <a:r>
                  <a:rPr lang="zh-CN" altLang="ar-AE" i="0">
                    <a:latin typeface="Cambria Math" panose="02040503050406030204" pitchFamily="18" charset="0"/>
                  </a:rPr>
                  <a:t>𝐴</a:t>
                </a:r>
                <a:r>
                  <a:rPr lang="ar-AE" altLang="zh-CN" i="0">
                    <a:latin typeface="Cambria Math" panose="02040503050406030204" pitchFamily="18" charset="0"/>
                  </a:rPr>
                  <a:t> ̂^("</a:t>
                </a:r>
                <a:r>
                  <a:rPr lang="ar-AE" altLang="zh-CN" i="0"/>
                  <a:t> 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" 2</a:t>
                </a:r>
                <a:r>
                  <a:rPr lang="ar-AE" altLang="zh-CN" b="0" i="0">
                    <a:latin typeface="Cambria Math" panose="02040503050406030204" pitchFamily="18" charset="0"/>
                  </a:rPr>
                  <a:t>)</a:t>
                </a:r>
                <a:r>
                  <a:rPr lang="zh-CN" altLang="ar-AE" b="0" i="0">
                    <a:latin typeface="Cambria Math" panose="02040503050406030204" pitchFamily="18" charset="0"/>
                  </a:rPr>
                  <a:t> </a:t>
                </a:r>
                <a:r>
                  <a:rPr lang="zh-CN" altLang="ar-AE" i="0">
                    <a:latin typeface="Cambria Math" panose="02040503050406030204" pitchFamily="18" charset="0"/>
                  </a:rPr>
                  <a:t>𝐻</a:t>
                </a:r>
                <a:r>
                  <a:rPr lang="zh-CN" altLang="en-US" dirty="0"/>
                  <a:t>：</a:t>
                </a:r>
                <a:r>
                  <a:rPr lang="zh-CN" altLang="en-US" b="1" dirty="0"/>
                  <a:t>邻居的邻居，</a:t>
                </a:r>
                <a:r>
                  <a:rPr lang="en-US" altLang="zh-CN" b="1" dirty="0"/>
                  <a:t>k</a:t>
                </a:r>
                <a:r>
                  <a:rPr lang="zh-CN" altLang="en-US" b="1" dirty="0"/>
                  <a:t>的增加代表着关联越远</a:t>
                </a:r>
                <a:endParaRPr lang="en-US" altLang="zh-CN" b="1" dirty="0"/>
              </a:p>
              <a:p>
                <a:pPr/>
                <a:endParaRPr lang="en-US" altLang="zh-CN" b="1" dirty="0"/>
              </a:p>
              <a:p>
                <a:pPr/>
                <a:r>
                  <a:rPr lang="zh-CN" altLang="en-US" b="1" dirty="0"/>
                  <a:t>将上一层的输出转化为下一层的输入，</a:t>
                </a:r>
                <a:r>
                  <a:rPr lang="zh-CN" altLang="en-US" dirty="0"/>
                  <a:t>聚合其他</a:t>
                </a:r>
                <a:r>
                  <a:rPr lang="zh-CN" altLang="en-US" b="1" dirty="0"/>
                  <a:t>信息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D5EC-8EB0-4E7A-9543-1590413CAD9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801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 </a:t>
            </a:r>
            <a:r>
              <a:rPr lang="zh-CN" altLang="en-US" dirty="0"/>
              <a:t>是 由 </a:t>
            </a:r>
            <a:r>
              <a:rPr lang="en-US" altLang="zh-CN" dirty="0" err="1"/>
              <a:t>MixHop</a:t>
            </a:r>
            <a:r>
              <a:rPr lang="en-US" altLang="zh-CN" dirty="0"/>
              <a:t> </a:t>
            </a:r>
            <a:r>
              <a:rPr lang="zh-CN" altLang="en-US" dirty="0"/>
              <a:t>的离散形式推导得到</a:t>
            </a:r>
            <a:endParaRPr lang="en-US" altLang="zh-CN" dirty="0"/>
          </a:p>
          <a:p>
            <a:r>
              <a:rPr lang="en-US" altLang="zh-CN" dirty="0"/>
              <a:t>E </a:t>
            </a:r>
            <a:r>
              <a:rPr lang="zh-CN" altLang="en-US" dirty="0"/>
              <a:t>偏置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D5EC-8EB0-4E7A-9543-1590413CAD9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153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14623-2696-8F01-D7B6-C1FC49A31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2A0509-CE07-381F-D090-B23F214B4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0535BA-6406-FD4D-6F3E-B04025E8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06AF60-3531-2EEC-7D5F-94736972D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977AFF-12F8-4F72-5E69-57C0F7CB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167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1E39B-9A7C-6660-D118-DDE50A0C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5495ED-CFC8-85F4-1655-168F12254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6304EF-E79A-E3F4-AE69-3CD530052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3A896C-6E31-0D0D-4039-6D7422E35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8B13DF-CA89-120B-1EC6-505992A0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676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6A7DF-1274-26E9-F511-89B7F73B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7FEF78-A0B0-0834-0345-488FAE4AC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5E238F-9DA4-54B8-3ED6-E91283B1E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5CA463-150A-8853-E47A-DDBAF9BF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014D6B-A379-5292-4C1A-1743E9CF3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80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90FE5-7944-B920-4187-CD5246BB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588FE-D9FF-AA67-B847-2F01810EF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9B0626-806F-F1C9-79A8-38AB7EFEF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76062C-59A8-133E-83A6-E161194C7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65AD3A-1C8B-2435-1389-617654CA0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5473FA-2A3F-D42E-FBB8-07C04E30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06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E23B6-8AFC-D718-FEE5-E813790B7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3A2939-48EB-D296-2F41-4D2ACA6D9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D8E865-DD35-429E-4B3B-A087BF8D3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9E21AA-CCED-1D39-700D-2E2BFDC81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FB5615-1B07-43F6-E60D-42743DAD1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0797DC-9FC8-7A68-121A-82A5AF7B0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D509B4-1B01-8A67-13ED-7E15BEB41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1689DC-EDA8-2832-9E85-A8045175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0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5D9FC-ADE6-473A-6FE9-F9F15CF7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A78EC5-6AA2-72D3-2E3F-378CBCCBB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D4EC6E-AF5A-3E40-A343-CE27A884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ACF098-DD7F-56D6-E154-753CA4FB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46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E994DF-DAB0-31FD-047D-BB9776D5D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9D6B15-3AB3-1C11-E9D9-D38AE904A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3408AA-C942-9351-EF5A-B92E454C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08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3B543-F5CD-6A19-FACE-9061C215E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4B7AE-E3EE-E8B3-7532-38445D7FA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87EEB7-AA54-FF51-1D14-5B3F17516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E16414-7B75-7053-88AA-97E986C0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A11A6F-1D5F-6569-C43A-A5F72511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70AB4D-24F7-8254-4491-F0FCDC99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009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57AC7C-4C5C-F805-FC2A-41BE5BECB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1FF4B2-FA8D-75A0-A5E3-84DFC83F9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62749A-23D0-DA16-CB17-92CAD4F7B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3BB904-C63E-EF16-DC03-3BFE5AC3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71485D-74A8-8080-5925-FB26CB19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FBC006-C5F0-87E5-F3CD-C6446BE04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133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DF4B2-0F32-AB13-6BD0-1017747E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FB0BCC-759D-E7E6-1145-F24828E54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2768B3-887D-F6E0-ABFB-9267AFCF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A2998D-0A85-3612-D739-D31F256A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C5CD15-8E6B-B15D-6788-71EBFBF4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72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0A9438-7128-6651-8970-33E0C23D65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0E5156-82C5-DEBF-4F39-CF88DB96A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9FB795-0BB0-76A4-FFA6-3D820B7B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6F3AC6-F5C0-1EEE-18A2-1D8BFEA0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AE49EF-ABA0-2A83-20D3-4C22ADDE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13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6D8FA6-1103-5FD3-1427-25C69916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AFF79F-7C87-6341-0BE4-738F72891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8F32EE-65CF-3FE1-2B5D-2AF60A621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675495-9EF9-417B-A252-E1586D6DE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35F37D-B756-127A-F699-8B89B9589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301028-D43F-CCF7-2136-19670CBB8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F1246-D771-49E0-A462-20246A259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46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.png"/><Relationship Id="rId21" Type="http://schemas.openxmlformats.org/officeDocument/2006/relationships/customXml" Target="../ink/ink10.xml"/><Relationship Id="rId42" Type="http://schemas.openxmlformats.org/officeDocument/2006/relationships/image" Target="../media/image28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41.png"/><Relationship Id="rId84" Type="http://schemas.openxmlformats.org/officeDocument/2006/relationships/image" Target="../media/image49.png"/><Relationship Id="rId89" Type="http://schemas.openxmlformats.org/officeDocument/2006/relationships/customXml" Target="../ink/ink44.xml"/><Relationship Id="rId16" Type="http://schemas.openxmlformats.org/officeDocument/2006/relationships/image" Target="../media/image150.png"/><Relationship Id="rId11" Type="http://schemas.openxmlformats.org/officeDocument/2006/relationships/customXml" Target="../ink/ink5.xml"/><Relationship Id="rId32" Type="http://schemas.openxmlformats.org/officeDocument/2006/relationships/image" Target="../media/image23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6.png"/><Relationship Id="rId74" Type="http://schemas.openxmlformats.org/officeDocument/2006/relationships/image" Target="../media/image44.png"/><Relationship Id="rId79" Type="http://schemas.openxmlformats.org/officeDocument/2006/relationships/customXml" Target="../ink/ink39.xml"/><Relationship Id="rId5" Type="http://schemas.openxmlformats.org/officeDocument/2006/relationships/customXml" Target="../ink/ink2.xml"/><Relationship Id="rId90" Type="http://schemas.openxmlformats.org/officeDocument/2006/relationships/image" Target="../media/image52.png"/><Relationship Id="rId95" Type="http://schemas.openxmlformats.org/officeDocument/2006/relationships/customXml" Target="../ink/ink47.xml"/><Relationship Id="rId22" Type="http://schemas.openxmlformats.org/officeDocument/2006/relationships/image" Target="../media/image180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31.png"/><Relationship Id="rId64" Type="http://schemas.openxmlformats.org/officeDocument/2006/relationships/image" Target="../media/image39.png"/><Relationship Id="rId69" Type="http://schemas.openxmlformats.org/officeDocument/2006/relationships/customXml" Target="../ink/ink34.xml"/><Relationship Id="rId80" Type="http://schemas.openxmlformats.org/officeDocument/2006/relationships/image" Target="../media/image47.png"/><Relationship Id="rId85" Type="http://schemas.openxmlformats.org/officeDocument/2006/relationships/customXml" Target="../ink/ink42.xml"/><Relationship Id="rId3" Type="http://schemas.openxmlformats.org/officeDocument/2006/relationships/customXml" Target="../ink/ink1.xml"/><Relationship Id="rId12" Type="http://schemas.openxmlformats.org/officeDocument/2006/relationships/image" Target="../media/image13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6.png"/><Relationship Id="rId46" Type="http://schemas.openxmlformats.org/officeDocument/2006/relationships/image" Target="../media/image30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70.png"/><Relationship Id="rId41" Type="http://schemas.openxmlformats.org/officeDocument/2006/relationships/customXml" Target="../ink/ink20.xml"/><Relationship Id="rId54" Type="http://schemas.openxmlformats.org/officeDocument/2006/relationships/image" Target="../media/image34.png"/><Relationship Id="rId62" Type="http://schemas.openxmlformats.org/officeDocument/2006/relationships/image" Target="../media/image38.png"/><Relationship Id="rId70" Type="http://schemas.openxmlformats.org/officeDocument/2006/relationships/image" Target="../media/image42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51.png"/><Relationship Id="rId91" Type="http://schemas.openxmlformats.org/officeDocument/2006/relationships/customXml" Target="../ink/ink45.xml"/><Relationship Id="rId9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1.png"/><Relationship Id="rId36" Type="http://schemas.openxmlformats.org/officeDocument/2006/relationships/image" Target="../media/image25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120.png"/><Relationship Id="rId31" Type="http://schemas.openxmlformats.org/officeDocument/2006/relationships/customXml" Target="../ink/ink15.xml"/><Relationship Id="rId44" Type="http://schemas.openxmlformats.org/officeDocument/2006/relationships/image" Target="../media/image29.png"/><Relationship Id="rId52" Type="http://schemas.openxmlformats.org/officeDocument/2006/relationships/image" Target="../media/image33.png"/><Relationship Id="rId60" Type="http://schemas.openxmlformats.org/officeDocument/2006/relationships/image" Target="../media/image37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6.png"/><Relationship Id="rId81" Type="http://schemas.openxmlformats.org/officeDocument/2006/relationships/customXml" Target="../ink/ink40.xml"/><Relationship Id="rId86" Type="http://schemas.openxmlformats.org/officeDocument/2006/relationships/image" Target="../media/image50.png"/><Relationship Id="rId94" Type="http://schemas.openxmlformats.org/officeDocument/2006/relationships/image" Target="../media/image54.png"/><Relationship Id="rId99" Type="http://schemas.openxmlformats.org/officeDocument/2006/relationships/slide" Target="slide3.xml"/><Relationship Id="rId4" Type="http://schemas.openxmlformats.org/officeDocument/2006/relationships/image" Target="../media/image90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60.png"/><Relationship Id="rId39" Type="http://schemas.openxmlformats.org/officeDocument/2006/relationships/customXml" Target="../ink/ink19.xml"/><Relationship Id="rId34" Type="http://schemas.openxmlformats.org/officeDocument/2006/relationships/image" Target="../media/image24.png"/><Relationship Id="rId50" Type="http://schemas.openxmlformats.org/officeDocument/2006/relationships/image" Target="../media/image32.png"/><Relationship Id="rId55" Type="http://schemas.openxmlformats.org/officeDocument/2006/relationships/customXml" Target="../ink/ink27.xml"/><Relationship Id="rId76" Type="http://schemas.openxmlformats.org/officeDocument/2006/relationships/image" Target="../media/image45.png"/><Relationship Id="rId97" Type="http://schemas.openxmlformats.org/officeDocument/2006/relationships/customXml" Target="../ink/ink48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3.png"/><Relationship Id="rId2" Type="http://schemas.openxmlformats.org/officeDocument/2006/relationships/image" Target="../media/image80.png"/><Relationship Id="rId29" Type="http://schemas.openxmlformats.org/officeDocument/2006/relationships/customXml" Target="../ink/ink14.xml"/><Relationship Id="rId24" Type="http://schemas.openxmlformats.org/officeDocument/2006/relationships/image" Target="../media/image19.png"/><Relationship Id="rId40" Type="http://schemas.openxmlformats.org/officeDocument/2006/relationships/image" Target="../media/image27.png"/><Relationship Id="rId45" Type="http://schemas.openxmlformats.org/officeDocument/2006/relationships/customXml" Target="../ink/ink22.xml"/><Relationship Id="rId66" Type="http://schemas.openxmlformats.org/officeDocument/2006/relationships/image" Target="../media/image40.png"/><Relationship Id="rId87" Type="http://schemas.openxmlformats.org/officeDocument/2006/relationships/customXml" Target="../ink/ink43.xml"/><Relationship Id="rId61" Type="http://schemas.openxmlformats.org/officeDocument/2006/relationships/customXml" Target="../ink/ink30.xml"/><Relationship Id="rId82" Type="http://schemas.openxmlformats.org/officeDocument/2006/relationships/image" Target="../media/image48.png"/><Relationship Id="rId19" Type="http://schemas.openxmlformats.org/officeDocument/2006/relationships/customXml" Target="../ink/ink9.xml"/><Relationship Id="rId14" Type="http://schemas.openxmlformats.org/officeDocument/2006/relationships/image" Target="../media/image140.png"/><Relationship Id="rId30" Type="http://schemas.openxmlformats.org/officeDocument/2006/relationships/image" Target="../media/image22.png"/><Relationship Id="rId35" Type="http://schemas.openxmlformats.org/officeDocument/2006/relationships/customXml" Target="../ink/ink17.xml"/><Relationship Id="rId56" Type="http://schemas.openxmlformats.org/officeDocument/2006/relationships/image" Target="../media/image35.png"/><Relationship Id="rId77" Type="http://schemas.openxmlformats.org/officeDocument/2006/relationships/customXml" Target="../ink/ink38.xml"/><Relationship Id="rId8" Type="http://schemas.openxmlformats.org/officeDocument/2006/relationships/image" Target="../media/image110.png"/><Relationship Id="rId51" Type="http://schemas.openxmlformats.org/officeDocument/2006/relationships/customXml" Target="../ink/ink25.xml"/><Relationship Id="rId72" Type="http://schemas.openxmlformats.org/officeDocument/2006/relationships/image" Target="../media/image43.png"/><Relationship Id="rId93" Type="http://schemas.openxmlformats.org/officeDocument/2006/relationships/customXml" Target="../ink/ink46.xml"/><Relationship Id="rId98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C7600-94E0-B6C0-2ECC-28C55F964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A9C0A6-C514-18B4-770F-3741BA9ADF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143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C210F-278C-2903-4EA4-8C06A7E1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1.GAT </a:t>
            </a:r>
            <a:r>
              <a:rPr lang="en-US" altLang="zh-CN" sz="1800" dirty="0"/>
              <a:t>(GRAPH ATTENTION NETWORKS)</a:t>
            </a:r>
            <a:endParaRPr lang="zh-CN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D7427E-8A75-C021-8630-18AFDCECE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对比对象：</a:t>
                </a:r>
                <a:r>
                  <a:rPr lang="en-US" altLang="zh-CN" dirty="0"/>
                  <a:t> GCN</a:t>
                </a:r>
                <a:r>
                  <a:rPr lang="zh-CN" altLang="en-US" dirty="0"/>
                  <a:t>以及近似的方法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GCN</a:t>
                </a:r>
                <a:r>
                  <a:rPr lang="zh-CN" altLang="en-US" dirty="0"/>
                  <a:t>存在的问题：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使用邻居的均值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加权求和；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权重矩阵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zh-CN" altLang="en-US" dirty="0"/>
                  <a:t>是固定的；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无法区分不同邻居的重要性。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D7427E-8A75-C021-8630-18AFDCECE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80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1FED57-A575-130B-67A5-3F67219B8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0372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GAT </a:t>
            </a:r>
            <a:r>
              <a:rPr lang="zh-CN" altLang="en-US" sz="3200" dirty="0"/>
              <a:t>的改进点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0F2FD8-AA5F-3FB5-C632-0754F91E4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引入 </a:t>
            </a:r>
            <a:r>
              <a:rPr lang="zh-CN" altLang="en-US" b="1" dirty="0"/>
              <a:t>自注意力机制</a:t>
            </a:r>
            <a:r>
              <a:rPr lang="zh-CN" altLang="en-US" dirty="0"/>
              <a:t>（</a:t>
            </a:r>
            <a:r>
              <a:rPr lang="en-US" altLang="zh-CN" dirty="0"/>
              <a:t>self-attention</a:t>
            </a:r>
            <a:r>
              <a:rPr lang="zh-CN" altLang="en-US" dirty="0"/>
              <a:t>），使得节点在聚合邻居信息时可以 </a:t>
            </a:r>
            <a:r>
              <a:rPr lang="zh-CN" altLang="en-US" b="1" dirty="0"/>
              <a:t>自适应地学习不同邻居的重要性</a:t>
            </a:r>
            <a:r>
              <a:rPr lang="zh-CN" altLang="en-US" dirty="0"/>
              <a:t>，权重由数据学习得到，而不是固定。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优点：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不需要定义</a:t>
            </a:r>
            <a:r>
              <a:rPr lang="zh-CN" altLang="en-US" dirty="0">
                <a:hlinkClick r:id="rId2" action="ppaction://hlinksldjump"/>
              </a:rPr>
              <a:t>拉普拉斯算子</a:t>
            </a:r>
            <a:r>
              <a:rPr lang="zh-CN" altLang="en-US" dirty="0"/>
              <a:t>或谱分解；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权重自适应，能够更好地处理异质性图；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支持并行计算，易于扩展。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4416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CD342-9E29-EBC6-F3B8-D2DEACF4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GAT </a:t>
            </a:r>
            <a:r>
              <a:rPr lang="zh-CN" altLang="en-US" dirty="0"/>
              <a:t>层的计算流程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5721E5F-8D31-7E6C-401F-DD583D84E8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输入： 单个静态图</a:t>
                </a:r>
                <a:r>
                  <a:rPr lang="en-US" altLang="zh-CN" dirty="0"/>
                  <a:t>G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权重矩阵</a:t>
                </a:r>
                <a:r>
                  <a:rPr lang="en-US" altLang="zh-CN" dirty="0"/>
                  <a:t>W</a:t>
                </a:r>
                <a:r>
                  <a:rPr lang="zh-CN" altLang="en-US" dirty="0"/>
                  <a:t>的初始化：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1.Torch </a:t>
                </a:r>
                <a:r>
                  <a:rPr lang="en-US" altLang="zh-CN" dirty="0" err="1"/>
                  <a:t>defualt</a:t>
                </a:r>
                <a:r>
                  <a:rPr lang="zh-CN" altLang="en-US" dirty="0"/>
                  <a:t>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nor/>
                        </m:rPr>
                        <a:rPr lang="zh-CN" altLang="en-US" i="1"/>
                        <m:t> </m:t>
                      </m:r>
                      <m:d>
                        <m:dPr>
                          <m:sepChr m:val=","/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zh-CN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altLang="zh-CN" i="1"/>
                                    <m:t>in</m:t>
                                  </m:r>
                                  <m:r>
                                    <m:rPr>
                                      <m:lit/>
                                      <m:nor/>
                                    </m:rPr>
                                    <a:rPr lang="en-US" altLang="zh-CN" i="1"/>
                                    <m:t>_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i="1"/>
                                    <m:t>features</m:t>
                                  </m:r>
                                </m:den>
                              </m:f>
                            </m:e>
                          </m:rad>
                        </m:e>
                        <m:e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altLang="zh-CN" i="1"/>
                                    <m:t>in</m:t>
                                  </m:r>
                                  <m:r>
                                    <m:rPr>
                                      <m:lit/>
                                      <m:nor/>
                                    </m:rPr>
                                    <a:rPr lang="en-US" altLang="zh-CN" i="1"/>
                                    <m:t>_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i="1"/>
                                    <m:t>features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ar-AE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2. Xavier </a:t>
                </a:r>
                <a:r>
                  <a:rPr lang="zh-CN" altLang="en-US" dirty="0"/>
                  <a:t>初始化：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zh-CN" altLang="ar-AE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nor/>
                        </m:rPr>
                        <a:rPr lang="ar-AE" altLang="zh-CN" i="1"/>
                        <m:t> </m:t>
                      </m:r>
                      <m:d>
                        <m:dPr>
                          <m:sepChr m:val=","/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ar-AE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ar-AE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ar-AE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p>
                                      <m:r>
                                        <a:rPr lang="ar-AE" altLang="zh-CN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e>
                        <m:e>
                          <m:r>
                            <m:rPr>
                              <m:nor/>
                            </m:rPr>
                            <a:rPr lang="ar-AE" altLang="zh-CN" i="1"/>
                            <m:t>  </m:t>
                          </m:r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ar-AE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ar-AE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p>
                                      <m:r>
                                        <a:rPr lang="ar-AE" altLang="zh-CN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ar-AE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5721E5F-8D31-7E6C-401F-DD583D84E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24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1BA9F-94C1-FE9B-C673-054D290B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GAT </a:t>
            </a:r>
            <a:r>
              <a:rPr lang="zh-CN" altLang="en-US" dirty="0"/>
              <a:t>层的计算流程</a:t>
            </a:r>
            <a:r>
              <a:rPr lang="en-US" altLang="zh-CN" dirty="0"/>
              <a:t>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E51C8-B39A-D32C-8487-D2EB8CE524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每个节点做一个共享的线性变换：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ar-AE" i="1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ar-AE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p>
                            <m:s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ar-AE" altLang="zh-CN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sup>
                      </m:sSup>
                    </m:oMath>
                  </m:oMathPara>
                </a14:m>
                <a:endParaRPr lang="ar-AE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这里的</a:t>
                </a:r>
                <a:r>
                  <a:rPr lang="en-US" altLang="zh-CN" dirty="0"/>
                  <a:t>W</a:t>
                </a:r>
                <a:r>
                  <a:rPr lang="zh-CN" altLang="en-US" dirty="0"/>
                  <a:t>就是上面初始化的均匀分布，可学习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原始的</a:t>
                </a:r>
                <a:r>
                  <a:rPr lang="en-US" altLang="zh-CN" dirty="0"/>
                  <a:t>GAT</a:t>
                </a:r>
                <a:r>
                  <a:rPr lang="zh-CN" altLang="en-US" dirty="0"/>
                  <a:t>边是不包含信息的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需要的是计算节点之间的分数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对于节点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j</a:t>
                </a:r>
                <a:r>
                  <a:rPr lang="zh-CN" altLang="en-US" dirty="0"/>
                  <a:t>，原始的</a:t>
                </a:r>
                <a:r>
                  <a:rPr lang="en-US" altLang="zh-CN" dirty="0"/>
                  <a:t>GAT </a:t>
                </a:r>
                <a:r>
                  <a:rPr lang="zh-CN" altLang="en-US" dirty="0"/>
                  <a:t>做了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拼接</m:t>
                    </m:r>
                    <m:r>
                      <a:rPr lang="zh-CN" altLang="ar-AE" i="1" smtClean="0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ar-AE" altLang="zh-CN" i="1"/>
                      <m:t> 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nor/>
                      </m:rPr>
                      <a:rPr lang="ar-AE" altLang="zh-CN" i="1"/>
                      <m:t> 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E51C8-B39A-D32C-8487-D2EB8CE524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66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FDC7AB-A365-6296-94E2-DD75E9D992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888" y="472312"/>
                <a:ext cx="10515600" cy="56541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对边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ar-AE" dirty="0"/>
                  <a:t>，</a:t>
                </a:r>
                <a:r>
                  <a:rPr lang="zh-CN" altLang="en-US" dirty="0"/>
                  <a:t>计算节点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对节点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的“注意力打分”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i="1"/>
                        <m:t>LeakyReLU</m:t>
                      </m:r>
                      <m:r>
                        <m:rPr>
                          <m:nor/>
                        </m:rPr>
                        <a:rPr lang="en-US" altLang="zh-CN" i="1"/>
                        <m:t> 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nor/>
                        </m:rPr>
                        <a:rPr lang="ar-AE" altLang="zh-CN" i="1"/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ar-AE" altLang="zh-CN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ar-AE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en-US" dirty="0"/>
                  <a:t>是一个可学习的权重向量。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拼接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𝑊</m:t>
                        </m:r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𝑊</m:t>
                        </m:r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该节点以及邻居节点</a:t>
                </a:r>
                <a:r>
                  <a:rPr lang="en-US" altLang="zh-CN" dirty="0"/>
                  <a:t>j</a:t>
                </a:r>
                <a:r>
                  <a:rPr lang="zh-CN" altLang="en-US" dirty="0"/>
                  <a:t>的特哼。</a:t>
                </a:r>
              </a:p>
              <a:p>
                <a:pPr marL="0" indent="0">
                  <a:buNone/>
                </a:pPr>
                <a:r>
                  <a:rPr lang="en-US" altLang="zh-CN" dirty="0" err="1"/>
                  <a:t>LeakyReLU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激活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改进版本</a:t>
                </a:r>
                <a:r>
                  <a:rPr lang="en-US" altLang="zh-CN" b="1" dirty="0"/>
                  <a:t>Edge-featured GAT</a:t>
                </a:r>
                <a:r>
                  <a:rPr lang="zh-CN" altLang="en-US" b="1" dirty="0"/>
                  <a:t>（包含边的信息）</a:t>
                </a:r>
                <a:r>
                  <a:rPr lang="zh-CN" altLang="en-US" dirty="0"/>
                  <a:t>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i="1"/>
                        <m:t>LeakyReLU</m:t>
                      </m:r>
                      <m:r>
                        <m:rPr>
                          <m:nor/>
                        </m:rPr>
                        <a:rPr lang="en-US" altLang="zh-CN" i="1"/>
                        <m:t> 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∥</m:t>
                          </m:r>
                          <m:sSub>
                            <m:sSub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ar-AE" altLang="zh-CN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FDC7AB-A365-6296-94E2-DD75E9D992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888" y="472312"/>
                <a:ext cx="10515600" cy="5654167"/>
              </a:xfrm>
              <a:blipFill>
                <a:blip r:embed="rId2"/>
                <a:stretch>
                  <a:fillRect l="-1159" t="-1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84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3CF5A-219F-F913-F6C6-EFA6D9D1F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注意力系数归一化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99CCA-9E74-A752-4AD6-3EE181960A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对邻居集合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/>
                  <a:t>做 </a:t>
                </a:r>
                <a:r>
                  <a:rPr lang="en-US" altLang="zh-CN" dirty="0" err="1"/>
                  <a:t>softmax</a:t>
                </a:r>
                <a:r>
                  <a:rPr lang="zh-CN" altLang="en-US" dirty="0"/>
                  <a:t>，得到权重：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</m:d>
                            </m:sub>
                            <m:sup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ik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dirty="0"/>
                  <a:t>表示节点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对节点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的最终的权重。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构成了</m:t>
                    </m:r>
                  </m:oMath>
                </a14:m>
                <a:r>
                  <a:rPr lang="zh-CN" altLang="en-US" dirty="0"/>
                  <a:t>矩阵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，所以每次会更新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99CCA-9E74-A752-4AD6-3EE181960A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654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EE920-BF0B-35E6-CFF6-2ED4E5D1E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多头注意力聚合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C3CD4B-C0BD-F11A-3C88-E7C40FE84E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对于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dirty="0"/>
                  <a:t>个独立的注意力头。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1" dirty="0"/>
                  <a:t>中间层（拼接）</a:t>
                </a:r>
                <a:r>
                  <a:rPr lang="zh-CN" altLang="en-US" dirty="0"/>
                  <a:t>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altLang="zh-CN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zh-CN" altLang="ar-AE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  <m:r>
                        <m:rPr>
                          <m:nor/>
                        </m:rPr>
                        <a:rPr lang="ar-AE" altLang="zh-CN" i="1"/>
                        <m:t>  </m:t>
                      </m:r>
                      <m:r>
                        <a:rPr lang="zh-CN" altLang="ar-AE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ar-AE" altLang="zh-CN" i="1"/>
                        <m:t> </m:t>
                      </m:r>
                      <m:d>
                        <m:d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altLang="zh-CN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ar-AE">
                                  <a:latin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ar-AE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sSup>
                            <m:s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sSub>
                            <m:sSub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zh-CN" b="0" dirty="0"/>
              </a:p>
              <a:p>
                <a:pPr marL="0" indent="0">
                  <a:buNone/>
                </a:pPr>
                <a:r>
                  <a:rPr lang="zh-CN" altLang="en-US" dirty="0"/>
                  <a:t>得到的输出维度是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ar-AE" dirty="0"/>
                  <a:t>。</a:t>
                </a:r>
              </a:p>
              <a:p>
                <a:pPr marL="0" indent="0">
                  <a:buNone/>
                </a:pPr>
                <a:r>
                  <a:rPr lang="zh-CN" altLang="en-US" b="1" dirty="0"/>
                  <a:t>最后一层（平均）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C3CD4B-C0BD-F11A-3C88-E7C40FE84E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879AFA8B-777A-DFDB-C714-43BA6AD84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501" y="4744593"/>
            <a:ext cx="5902997" cy="164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3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64E78-9B85-9A1F-EAC8-6016C3B5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2.DySAT</a:t>
            </a:r>
            <a:r>
              <a:rPr lang="zh-CN" altLang="en-US" sz="2400" dirty="0"/>
              <a:t>（</a:t>
            </a:r>
            <a:r>
              <a:rPr lang="en-US" altLang="zh-CN" sz="2400" dirty="0"/>
              <a:t>Dynamic Self-Attention Network</a:t>
            </a:r>
            <a:r>
              <a:rPr lang="zh-CN" altLang="en-US" sz="2400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D839EEA-85FA-1485-2A38-E02B9559DC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是什么？在</a:t>
                </a:r>
                <a:r>
                  <a:rPr lang="en-US" altLang="zh-CN" dirty="0"/>
                  <a:t>structural neighborhood and temporal dynamics </a:t>
                </a:r>
                <a:r>
                  <a:rPr lang="zh-CN" altLang="en-US" dirty="0"/>
                  <a:t> </a:t>
                </a:r>
                <a:r>
                  <a:rPr lang="zh-CN" altLang="en-US" b="1" dirty="0"/>
                  <a:t>两条轴上同时做自注意力</a:t>
                </a:r>
                <a:r>
                  <a:rPr lang="zh-CN" altLang="en-US" dirty="0"/>
                  <a:t>，输入一串图快照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zh-CN" altLang="en-US"/>
                        </m:ctrlPr>
                      </m:dPr>
                      <m:e>
                        <m:sSub>
                          <m:sSubPr>
                            <m:ctrlPr>
                              <a:rPr lang="zh-CN" altLang="en-US"/>
                            </m:ctrlPr>
                          </m:sSubPr>
                          <m:e>
                            <m:r>
                              <a:rPr lang="zh-CN" altLang="en-US" i="1"/>
                              <m:t>𝐺</m:t>
                            </m:r>
                          </m:e>
                          <m:sub>
                            <m:r>
                              <a:rPr lang="en-US" altLang="zh-CN"/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zh-CN"/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𝐺</m:t>
                            </m:r>
                          </m:e>
                          <m:sub>
                            <m:r>
                              <a:rPr lang="zh-CN" altLang="en-US" i="1"/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，输出每个时间步上每个节点的</a:t>
                </a:r>
                <a:r>
                  <a:rPr lang="zh-CN" altLang="en-US" b="1" dirty="0"/>
                  <a:t>动态嵌入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/>
                        </m:ctrlPr>
                      </m:dPr>
                      <m:e>
                        <m:sSubSup>
                          <m:sSubSupPr>
                            <m:ctrlPr>
                              <a:rPr lang="zh-CN" altLang="en-US"/>
                            </m:ctrlPr>
                          </m:sSubSupPr>
                          <m:e>
                            <m:r>
                              <a:rPr lang="zh-CN" altLang="en-US" i="1"/>
                              <m:t>𝑒</m:t>
                            </m:r>
                          </m:e>
                          <m:sub>
                            <m:r>
                              <a:rPr lang="zh-CN" altLang="en-US" i="1"/>
                              <m:t>𝑣</m:t>
                            </m:r>
                          </m:sub>
                          <m:sup>
                            <m:r>
                              <a:rPr lang="zh-CN" altLang="en-US" i="1"/>
                              <m:t>𝑡</m:t>
                            </m:r>
                          </m:sup>
                        </m:sSubSup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适合用于</a:t>
                </a:r>
                <a:r>
                  <a:rPr lang="zh-CN" altLang="en-US" b="1" dirty="0"/>
                  <a:t>无监督表示学习</a:t>
                </a:r>
                <a:r>
                  <a:rPr lang="zh-CN" altLang="en-US" dirty="0"/>
                  <a:t>，再配合下游微调。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本文在两类图上进行了链接预测实验：</a:t>
                </a:r>
                <a:r>
                  <a:rPr lang="en-US" altLang="zh-CN" dirty="0"/>
                  <a:t>communication networks </a:t>
                </a:r>
                <a:r>
                  <a:rPr lang="en-US" altLang="zh-CN" dirty="0">
                    <a:hlinkClick r:id="rId2" action="ppaction://hlinksldjump"/>
                  </a:rPr>
                  <a:t>and bipartite rating networks</a:t>
                </a:r>
                <a:r>
                  <a:rPr lang="zh-CN" altLang="en-US" dirty="0"/>
                  <a:t>。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D839EEA-85FA-1485-2A38-E02B9559DC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521" r="-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A5E8802-4700-C6EF-40FC-B181B8834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492700"/>
              </p:ext>
            </p:extLst>
          </p:nvPr>
        </p:nvGraphicFramePr>
        <p:xfrm>
          <a:off x="957072" y="5226590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205368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048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218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3275F-D122-9161-B40C-CEB12EDB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DySAT</a:t>
            </a:r>
            <a:r>
              <a:rPr lang="en-US" altLang="zh-CN" dirty="0"/>
              <a:t> </a:t>
            </a:r>
            <a:r>
              <a:rPr lang="zh-CN" altLang="en-US" dirty="0"/>
              <a:t>对比对象 </a:t>
            </a:r>
            <a:r>
              <a:rPr lang="en-US" altLang="zh-CN" dirty="0"/>
              <a:t>&amp; </a:t>
            </a:r>
            <a:r>
              <a:rPr lang="zh-CN" altLang="en-US" dirty="0"/>
              <a:t>解决了什么问题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C2EB88-91C7-3C29-6D60-720F50412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对比对象</a:t>
            </a:r>
            <a:r>
              <a:rPr lang="zh-CN" altLang="en-US" dirty="0"/>
              <a:t>：</a:t>
            </a:r>
          </a:p>
          <a:p>
            <a:pPr marL="457200" lvl="1" indent="0">
              <a:buNone/>
            </a:pPr>
            <a:r>
              <a:rPr lang="zh-CN" altLang="en-US" dirty="0"/>
              <a:t>静态 </a:t>
            </a:r>
            <a:r>
              <a:rPr lang="en-US" altLang="zh-CN" dirty="0"/>
              <a:t>GAT/GCN</a:t>
            </a:r>
            <a:r>
              <a:rPr lang="zh-CN" altLang="en-US" dirty="0"/>
              <a:t>；</a:t>
            </a:r>
          </a:p>
          <a:p>
            <a:pPr marL="457200" lvl="1" indent="0">
              <a:buNone/>
            </a:pPr>
            <a:r>
              <a:rPr lang="zh-CN" altLang="en-US" dirty="0"/>
              <a:t>只在时间轴做 </a:t>
            </a:r>
            <a:r>
              <a:rPr lang="en-US" altLang="zh-CN" dirty="0"/>
              <a:t>RNN/</a:t>
            </a:r>
            <a:r>
              <a:rPr lang="zh-CN" altLang="en-US" dirty="0"/>
              <a:t>平均的“快照 </a:t>
            </a:r>
            <a:r>
              <a:rPr lang="en-US" altLang="zh-CN" dirty="0"/>
              <a:t>+ </a:t>
            </a:r>
            <a:r>
              <a:rPr lang="zh-CN" altLang="en-US" dirty="0"/>
              <a:t>序列”方法。</a:t>
            </a:r>
          </a:p>
          <a:p>
            <a:pPr marL="0" indent="0">
              <a:buNone/>
            </a:pPr>
            <a:r>
              <a:rPr lang="zh-CN" altLang="en-US" b="1" dirty="0"/>
              <a:t>核心改进</a:t>
            </a:r>
            <a:r>
              <a:rPr lang="zh-CN" altLang="en-US" dirty="0"/>
              <a:t>：</a:t>
            </a:r>
          </a:p>
          <a:p>
            <a:pPr marL="457200" lvl="1" indent="0">
              <a:buNone/>
            </a:pPr>
            <a:r>
              <a:rPr lang="zh-CN" altLang="en-US" b="1" dirty="0"/>
              <a:t>每个快照</a:t>
            </a:r>
            <a:r>
              <a:rPr lang="zh-CN" altLang="en-US" dirty="0"/>
              <a:t>上用 </a:t>
            </a:r>
            <a:r>
              <a:rPr lang="zh-CN" altLang="en-US" b="1" dirty="0"/>
              <a:t>结构自注意力</a:t>
            </a:r>
            <a:r>
              <a:rPr lang="zh-CN" altLang="en-US" dirty="0"/>
              <a:t> 学习结构；</a:t>
            </a:r>
          </a:p>
          <a:p>
            <a:pPr marL="457200" lvl="1" indent="0">
              <a:buNone/>
            </a:pPr>
            <a:r>
              <a:rPr lang="zh-CN" altLang="en-US" dirty="0"/>
              <a:t>在</a:t>
            </a:r>
            <a:r>
              <a:rPr lang="zh-CN" altLang="en-US" b="1" dirty="0"/>
              <a:t>同一节点的跨时序</a:t>
            </a:r>
            <a:r>
              <a:rPr lang="zh-CN" altLang="en-US" dirty="0"/>
              <a:t>上用 </a:t>
            </a:r>
            <a:r>
              <a:rPr lang="zh-CN" altLang="en-US" b="1" dirty="0"/>
              <a:t>时间自注意力</a:t>
            </a:r>
            <a:r>
              <a:rPr lang="zh-CN" altLang="en-US" dirty="0"/>
              <a:t> 学演化（带位置编码与因果掩码）；</a:t>
            </a:r>
          </a:p>
          <a:p>
            <a:pPr marL="0" indent="0">
              <a:buNone/>
            </a:pPr>
            <a:r>
              <a:rPr lang="zh-CN" altLang="en-US" b="1" dirty="0"/>
              <a:t>优点</a:t>
            </a:r>
            <a:r>
              <a:rPr lang="zh-CN" altLang="en-US" dirty="0"/>
              <a:t>：</a:t>
            </a:r>
          </a:p>
          <a:p>
            <a:pPr marL="457200" lvl="1" indent="0">
              <a:buNone/>
            </a:pPr>
            <a:r>
              <a:rPr lang="zh-CN" altLang="en-US" dirty="0"/>
              <a:t>能区分“哪些邻居重要” </a:t>
            </a:r>
            <a:r>
              <a:rPr lang="en-US" altLang="zh-CN" dirty="0"/>
              <a:t>+ “</a:t>
            </a:r>
            <a:r>
              <a:rPr lang="zh-CN" altLang="en-US" dirty="0"/>
              <a:t>哪些历史时刻重要”；</a:t>
            </a:r>
          </a:p>
          <a:p>
            <a:pPr marL="457200" lvl="1" indent="0">
              <a:buNone/>
            </a:pPr>
            <a:r>
              <a:rPr lang="zh-CN" altLang="en-US" dirty="0"/>
              <a:t>兼容不等长</a:t>
            </a:r>
            <a:r>
              <a:rPr lang="en-US" altLang="zh-CN" dirty="0"/>
              <a:t>/</a:t>
            </a:r>
            <a:r>
              <a:rPr lang="zh-CN" altLang="en-US" dirty="0"/>
              <a:t>变化的时间窗口（通过位置编码与掩码控制信息流向）。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9107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B2405-9DA7-274D-C75E-882739F2F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DySAT</a:t>
            </a:r>
            <a:r>
              <a:rPr lang="zh-CN" altLang="en-US" dirty="0"/>
              <a:t>输入 </a:t>
            </a:r>
            <a:r>
              <a:rPr lang="en-US" altLang="zh-CN" dirty="0"/>
              <a:t>/ </a:t>
            </a:r>
            <a:r>
              <a:rPr lang="zh-CN" altLang="en-US" dirty="0"/>
              <a:t>输出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0B7125-0EF4-3CA4-055D-7F47EEF4E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输入</a:t>
                </a:r>
                <a:endParaRPr lang="zh-CN" altLang="en-US" dirty="0"/>
              </a:p>
              <a:p>
                <a:pPr marL="457200" lvl="1" indent="0">
                  <a:buNone/>
                </a:pPr>
                <a:r>
                  <a:rPr lang="zh-CN" altLang="en-US" dirty="0"/>
                  <a:t>快照序列：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/>
                        </m:ctrlPr>
                      </m:sSubPr>
                      <m:e>
                        <m:r>
                          <a:rPr lang="zh-CN" altLang="ar-AE" i="1"/>
                          <m:t>𝐺</m:t>
                        </m:r>
                      </m:e>
                      <m:sub>
                        <m:r>
                          <a:rPr lang="zh-CN" altLang="ar-AE" i="1"/>
                          <m:t>𝑡</m:t>
                        </m:r>
                      </m:sub>
                    </m:sSub>
                    <m:r>
                      <a:rPr lang="ar-AE" altLang="zh-CN"/>
                      <m:t>=</m:t>
                    </m:r>
                    <m:d>
                      <m:dPr>
                        <m:sepChr m:val=","/>
                        <m:ctrlPr>
                          <a:rPr lang="ar-AE" altLang="zh-CN" i="1"/>
                        </m:ctrlPr>
                      </m:dPr>
                      <m:e>
                        <m:r>
                          <a:rPr lang="zh-CN" altLang="ar-AE"/>
                          <m:t>𝒱</m:t>
                        </m:r>
                      </m:e>
                      <m:e>
                        <m:sSub>
                          <m:sSubPr>
                            <m:ctrlPr>
                              <a:rPr lang="ar-AE" altLang="zh-CN" i="1"/>
                            </m:ctrlPr>
                          </m:sSubPr>
                          <m:e>
                            <m:r>
                              <a:rPr lang="ar-AE" altLang="zh-CN"/>
                              <m:t>ℰ</m:t>
                            </m:r>
                          </m:e>
                          <m:sub>
                            <m:r>
                              <a:rPr lang="zh-CN" altLang="ar-AE" i="1"/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altLang="zh-CN" dirty="0"/>
                  <a:t>, </a:t>
                </a:r>
                <a14:m>
                  <m:oMath xmlns:m="http://schemas.openxmlformats.org/officeDocument/2006/math">
                    <m:r>
                      <a:rPr lang="zh-CN" altLang="ar-AE" i="1"/>
                      <m:t>𝑡</m:t>
                    </m:r>
                    <m:r>
                      <a:rPr lang="ar-AE" altLang="zh-CN"/>
                      <m:t>=</m:t>
                    </m:r>
                    <m:r>
                      <a:rPr lang="ar-AE" altLang="zh-CN"/>
                      <m:t>1</m:t>
                    </m:r>
                    <m:r>
                      <a:rPr lang="ar-AE" altLang="zh-CN"/>
                      <m:t>…</m:t>
                    </m:r>
                    <m:r>
                      <a:rPr lang="zh-CN" altLang="ar-AE" i="1"/>
                      <m:t>𝑇</m:t>
                    </m:r>
                  </m:oMath>
                </a14:m>
                <a:endParaRPr lang="ar-AE" altLang="zh-CN" dirty="0"/>
              </a:p>
              <a:p>
                <a:pPr marL="457200" lvl="1" indent="0">
                  <a:buNone/>
                </a:pPr>
                <a:r>
                  <a:rPr lang="zh-CN" altLang="en-US" dirty="0"/>
                  <a:t>节点初始特征：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/>
                        </m:ctrlPr>
                      </m:sSubSupPr>
                      <m:e>
                        <m:r>
                          <a:rPr lang="zh-CN" altLang="ar-AE" i="1"/>
                          <m:t>𝑥</m:t>
                        </m:r>
                      </m:e>
                      <m:sub>
                        <m:r>
                          <a:rPr lang="zh-CN" altLang="ar-AE" i="1"/>
                          <m:t>𝑣</m:t>
                        </m:r>
                      </m:sub>
                      <m:sup>
                        <m:r>
                          <a:rPr lang="zh-CN" altLang="ar-AE" i="1"/>
                          <m:t>𝑡</m:t>
                        </m:r>
                      </m:sup>
                    </m:sSubSup>
                    <m:r>
                      <a:rPr lang="ar-AE" altLang="zh-CN"/>
                      <m:t>∈</m:t>
                    </m:r>
                    <m:sSup>
                      <m:sSupPr>
                        <m:ctrlPr>
                          <a:rPr lang="ar-AE" altLang="zh-CN" i="1"/>
                        </m:ctrlPr>
                      </m:sSupPr>
                      <m:e>
                        <m:r>
                          <a:rPr lang="ar-AE" altLang="zh-CN"/>
                          <m:t>ℝ</m:t>
                        </m:r>
                      </m:e>
                      <m:sup>
                        <m:r>
                          <a:rPr lang="zh-CN" altLang="ar-AE" i="1"/>
                          <m:t>𝐷</m:t>
                        </m:r>
                      </m:sup>
                    </m:sSup>
                  </m:oMath>
                </a14:m>
                <a:endParaRPr lang="ar-AE" altLang="zh-CN" dirty="0"/>
              </a:p>
              <a:p>
                <a:pPr marL="0" indent="0">
                  <a:buNone/>
                </a:pPr>
                <a:r>
                  <a:rPr lang="zh-CN" altLang="en-US" b="1" dirty="0"/>
                  <a:t>中间输出（结构块）</a:t>
                </a:r>
                <a:endParaRPr lang="zh-CN" alt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/>
                        </m:ctrlPr>
                      </m:sSubSupPr>
                      <m:e>
                        <m:r>
                          <a:rPr lang="ar-AE" altLang="zh-CN" i="1"/>
                          <m:t>h</m:t>
                        </m:r>
                      </m:e>
                      <m:sub>
                        <m:r>
                          <a:rPr lang="zh-CN" altLang="ar-AE" i="1"/>
                          <m:t>𝑣</m:t>
                        </m:r>
                      </m:sub>
                      <m:sup>
                        <m:r>
                          <a:rPr lang="zh-CN" altLang="ar-AE" i="1"/>
                          <m:t>𝑡</m:t>
                        </m:r>
                      </m:sup>
                    </m:sSubSup>
                    <m:r>
                      <a:rPr lang="ar-AE" altLang="zh-CN"/>
                      <m:t>∈</m:t>
                    </m:r>
                    <m:sSup>
                      <m:sSupPr>
                        <m:ctrlPr>
                          <a:rPr lang="ar-AE" altLang="zh-CN" i="1"/>
                        </m:ctrlPr>
                      </m:sSupPr>
                      <m:e>
                        <m:r>
                          <a:rPr lang="ar-AE" altLang="zh-CN"/>
                          <m:t>ℝ</m:t>
                        </m:r>
                      </m:e>
                      <m:sup>
                        <m:r>
                          <a:rPr lang="zh-CN" altLang="ar-AE" i="1"/>
                          <m:t>𝐹</m:t>
                        </m:r>
                      </m:sup>
                    </m:sSup>
                  </m:oMath>
                </a14:m>
                <a:r>
                  <a:rPr lang="zh-CN" altLang="ar-AE" dirty="0"/>
                  <a:t>：</a:t>
                </a:r>
                <a:r>
                  <a:rPr lang="zh-CN" altLang="en-US" dirty="0"/>
                  <a:t>节点 </a:t>
                </a:r>
                <a14:m>
                  <m:oMath xmlns:m="http://schemas.openxmlformats.org/officeDocument/2006/math">
                    <m:r>
                      <a:rPr lang="zh-CN" altLang="en-US" i="1"/>
                      <m:t>𝑣</m:t>
                    </m:r>
                  </m:oMath>
                </a14:m>
                <a:r>
                  <a:rPr lang="zh-CN" altLang="en-US" dirty="0"/>
                  <a:t>在时刻 </a:t>
                </a:r>
                <a14:m>
                  <m:oMath xmlns:m="http://schemas.openxmlformats.org/officeDocument/2006/math">
                    <m:r>
                      <a:rPr lang="zh-CN" altLang="en-US" i="1"/>
                      <m:t>𝑡</m:t>
                    </m:r>
                  </m:oMath>
                </a14:m>
                <a:r>
                  <a:rPr lang="zh-CN" altLang="en-US" dirty="0"/>
                  <a:t>的结构表示</a:t>
                </a:r>
              </a:p>
              <a:p>
                <a:pPr marL="0" indent="0">
                  <a:buNone/>
                </a:pPr>
                <a:r>
                  <a:rPr lang="zh-CN" altLang="en-US" b="1" dirty="0"/>
                  <a:t>最终输出（时间块）</a:t>
                </a:r>
                <a:endParaRPr lang="zh-CN" alt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/>
                        </m:ctrlPr>
                      </m:sSubSupPr>
                      <m:e>
                        <m:r>
                          <a:rPr lang="zh-CN" altLang="ar-AE" i="1"/>
                          <m:t>𝑒</m:t>
                        </m:r>
                      </m:e>
                      <m:sub>
                        <m:r>
                          <a:rPr lang="zh-CN" altLang="ar-AE" i="1"/>
                          <m:t>𝑣</m:t>
                        </m:r>
                      </m:sub>
                      <m:sup>
                        <m:r>
                          <a:rPr lang="zh-CN" altLang="ar-AE" i="1"/>
                          <m:t>𝑡</m:t>
                        </m:r>
                      </m:sup>
                    </m:sSubSup>
                    <m:r>
                      <a:rPr lang="ar-AE" altLang="zh-CN"/>
                      <m:t>∈</m:t>
                    </m:r>
                    <m:sSup>
                      <m:sSupPr>
                        <m:ctrlPr>
                          <a:rPr lang="ar-AE" altLang="zh-CN" i="1"/>
                        </m:ctrlPr>
                      </m:sSupPr>
                      <m:e>
                        <m:r>
                          <a:rPr lang="ar-AE" altLang="zh-CN"/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ar-AE" altLang="zh-CN" i="1"/>
                            </m:ctrlPr>
                          </m:sSupPr>
                          <m:e>
                            <m:r>
                              <a:rPr lang="zh-CN" altLang="ar-AE" i="1"/>
                              <m:t>𝐹</m:t>
                            </m:r>
                          </m:e>
                          <m:sup>
                            <m:r>
                              <a:rPr lang="ar-AE" altLang="zh-CN"/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ar-AE" dirty="0"/>
                  <a:t>：</a:t>
                </a:r>
                <a:r>
                  <a:rPr lang="zh-CN" altLang="en-US" dirty="0"/>
                  <a:t>节点 </a:t>
                </a:r>
                <a14:m>
                  <m:oMath xmlns:m="http://schemas.openxmlformats.org/officeDocument/2006/math">
                    <m:r>
                      <a:rPr lang="zh-CN" altLang="en-US" i="1"/>
                      <m:t>𝑣</m:t>
                    </m:r>
                  </m:oMath>
                </a14:m>
                <a:r>
                  <a:rPr lang="zh-CN" altLang="en-US" dirty="0"/>
                  <a:t>在时刻 </a:t>
                </a:r>
                <a14:m>
                  <m:oMath xmlns:m="http://schemas.openxmlformats.org/officeDocument/2006/math">
                    <m:r>
                      <a:rPr lang="zh-CN" altLang="en-US" i="1"/>
                      <m:t>𝑡</m:t>
                    </m:r>
                  </m:oMath>
                </a14:m>
                <a:r>
                  <a:rPr lang="zh-CN" altLang="en-US" dirty="0"/>
                  <a:t>的动态表示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0B7125-0EF4-3CA4-055D-7F47EEF4E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560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B841F-D0CB-5ABF-79DE-9D1DCB51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Structural Self-Attention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DAE1D3-41C7-B1F1-1459-72A7964C82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对每个快照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/>
                        </m:ctrlPr>
                      </m:sSubPr>
                      <m:e>
                        <m:r>
                          <a:rPr lang="zh-CN" altLang="ar-AE" i="1"/>
                          <m:t>𝐺</m:t>
                        </m:r>
                      </m:e>
                      <m:sub>
                        <m:r>
                          <a:rPr lang="zh-CN" altLang="ar-AE" i="1"/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独立、</a:t>
                </a:r>
                <a:r>
                  <a:rPr lang="zh-CN" altLang="en-US" b="1" dirty="0"/>
                  <a:t>共享参数</a:t>
                </a:r>
                <a:r>
                  <a:rPr lang="zh-CN" altLang="en-US" dirty="0"/>
                  <a:t>地做 </a:t>
                </a:r>
                <a:r>
                  <a:rPr lang="en-US" altLang="zh-CN" dirty="0"/>
                  <a:t>GAT-like </a:t>
                </a:r>
                <a:r>
                  <a:rPr lang="zh-CN" altLang="en-US" dirty="0"/>
                  <a:t>聚合：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ar-AE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ar-AE" altLang="zh-CN" i="1"/>
                        <m:t> </m:t>
                      </m:r>
                      <m:d>
                        <m:d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ar-AE" altLang="zh-CN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Sup>
                                <m:sSubSupPr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ar-AE">
                                      <a:latin typeface="Cambria Math" panose="02040503050406030204" pitchFamily="18" charset="0"/>
                                    </a:rPr>
                                    <m:t>𝒩</m:t>
                                  </m:r>
                                </m:e>
                                <m:sub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  <m:sup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sub>
                                <m:sup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nary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sSup>
                            <m:s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  <m:sup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CN" i="1"/>
                            <m:t>softmax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ar-AE">
                                  <a:latin typeface="Cambria Math" panose="02040503050406030204" pitchFamily="18" charset="0"/>
                                </a:rPr>
                                <m:t>𝒩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sub>
                      </m:sSub>
                      <m:r>
                        <m:rPr>
                          <m:nor/>
                        </m:rPr>
                        <a:rPr lang="ar-AE" altLang="zh-CN" i="1"/>
                        <m:t> 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i="1"/>
                        <m:t>LeakyReLU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ar-AE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weight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uv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∥</m:t>
                          </m:r>
                          <m:sSup>
                            <m:s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  <m:r>
                        <a:rPr lang="ar-AE" altLang="zh-CN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多头：</a:t>
                </a:r>
                <a:r>
                  <a:rPr lang="zh-CN" altLang="en-US" b="1" dirty="0"/>
                  <a:t>中间层拼接</a:t>
                </a:r>
                <a:r>
                  <a:rPr lang="zh-CN" altLang="en-US" dirty="0"/>
                  <a:t>，</a:t>
                </a:r>
                <a:r>
                  <a:rPr lang="zh-CN" altLang="en-US" b="1" dirty="0"/>
                  <a:t>最后一层平均</a:t>
                </a:r>
                <a:r>
                  <a:rPr lang="zh-CN" altLang="en-US" dirty="0"/>
                  <a:t>（与 </a:t>
                </a:r>
                <a:r>
                  <a:rPr lang="en-US" altLang="zh-CN" dirty="0"/>
                  <a:t>GAT </a:t>
                </a:r>
                <a:r>
                  <a:rPr lang="zh-CN" altLang="en-US" dirty="0"/>
                  <a:t>一致）。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只在已有边上打权重，不生成新边。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DAE1D3-41C7-B1F1-1459-72A7964C82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424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C05D4-305F-B3A4-9CB5-8CE7AEFE2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Temporal Self-Attention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E0CB7B-F4BC-75B0-FCFF-81BFB3B68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对同一节点跨时间的序列做自注意力（带位置与因果掩码）：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/>
                          </m:ctrlPr>
                        </m:sSubPr>
                        <m:e>
                          <m:r>
                            <a:rPr lang="zh-CN" altLang="ar-AE" i="1"/>
                            <m:t>𝑋</m:t>
                          </m:r>
                        </m:e>
                        <m:sub>
                          <m:r>
                            <a:rPr lang="zh-CN" altLang="ar-AE" i="1"/>
                            <m:t>𝑣</m:t>
                          </m:r>
                        </m:sub>
                      </m:sSub>
                      <m:r>
                        <a:rPr lang="ar-AE" altLang="zh-CN"/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ar-AE" altLang="zh-CN" i="1"/>
                          </m:ctrlPr>
                        </m:dPr>
                        <m:e>
                          <m:sSubSup>
                            <m:sSubSupPr>
                              <m:ctrlPr>
                                <a:rPr lang="ar-AE" altLang="zh-CN" i="1"/>
                              </m:ctrlPr>
                            </m:sSubSupPr>
                            <m:e>
                              <m:r>
                                <a:rPr lang="ar-AE" altLang="zh-CN" i="1"/>
                                <m:t>h</m:t>
                              </m:r>
                            </m:e>
                            <m:sub>
                              <m:r>
                                <a:rPr lang="zh-CN" altLang="ar-AE" i="1"/>
                                <m:t>𝑣</m:t>
                              </m:r>
                            </m:sub>
                            <m:sup>
                              <m:r>
                                <a:rPr lang="ar-AE" altLang="zh-CN"/>
                                <m:t>1</m:t>
                              </m:r>
                            </m:sup>
                          </m:sSubSup>
                        </m:e>
                        <m:e>
                          <m:r>
                            <a:rPr lang="ar-AE" altLang="zh-CN"/>
                            <m:t>…</m:t>
                          </m:r>
                        </m:e>
                        <m:e>
                          <m:sSubSup>
                            <m:sSubSupPr>
                              <m:ctrlPr>
                                <a:rPr lang="ar-AE" altLang="zh-CN" i="1"/>
                              </m:ctrlPr>
                            </m:sSubSupPr>
                            <m:e>
                              <m:r>
                                <a:rPr lang="ar-AE" altLang="zh-CN" i="1"/>
                                <m:t>h</m:t>
                              </m:r>
                            </m:e>
                            <m:sub>
                              <m:r>
                                <a:rPr lang="zh-CN" altLang="ar-AE" i="1"/>
                                <m:t>𝑣</m:t>
                              </m:r>
                            </m:sub>
                            <m:sup>
                              <m:r>
                                <a:rPr lang="zh-CN" altLang="ar-AE" i="1"/>
                                <m:t>𝑇</m:t>
                              </m:r>
                            </m:sup>
                          </m:sSubSup>
                        </m:e>
                      </m:d>
                      <m:r>
                        <a:rPr lang="ar-AE" altLang="zh-CN"/>
                        <m:t>,</m:t>
                      </m:r>
                      <m:r>
                        <m:rPr>
                          <m:nor/>
                        </m:rPr>
                        <a:rPr lang="ar-AE" altLang="zh-CN" i="1"/>
                        <m:t>    </m:t>
                      </m:r>
                      <m:r>
                        <a:rPr lang="zh-CN" altLang="ar-AE" i="1"/>
                        <m:t>𝑄</m:t>
                      </m:r>
                      <m:r>
                        <a:rPr lang="ar-AE" altLang="zh-CN"/>
                        <m:t>=</m:t>
                      </m:r>
                      <m:d>
                        <m:dPr>
                          <m:ctrlPr>
                            <a:rPr lang="ar-AE" altLang="zh-CN" i="1"/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r>
                            <a:rPr lang="ar-AE" altLang="zh-CN"/>
                            <m:t>+</m:t>
                          </m:r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sSub>
                        <m:sSubPr>
                          <m:ctrlPr>
                            <a:rPr lang="ar-AE" altLang="zh-CN" i="1"/>
                          </m:ctrlPr>
                        </m:sSubPr>
                        <m:e>
                          <m:r>
                            <a:rPr lang="zh-CN" altLang="ar-AE" i="1"/>
                            <m:t>𝑊</m:t>
                          </m:r>
                        </m:e>
                        <m:sub>
                          <m:r>
                            <a:rPr lang="zh-CN" altLang="ar-AE" i="1"/>
                            <m:t>𝑞</m:t>
                          </m:r>
                        </m:sub>
                      </m:sSub>
                      <m:r>
                        <a:rPr lang="ar-AE" altLang="zh-CN"/>
                        <m:t>,</m:t>
                      </m:r>
                      <m:r>
                        <m:rPr>
                          <m:nor/>
                        </m:rPr>
                        <a:rPr lang="ar-AE" altLang="zh-CN" i="1"/>
                        <m:t>  </m:t>
                      </m:r>
                      <m:r>
                        <a:rPr lang="zh-CN" altLang="ar-AE" i="1"/>
                        <m:t>𝐾</m:t>
                      </m:r>
                      <m:r>
                        <a:rPr lang="ar-AE" altLang="zh-CN"/>
                        <m:t>=</m:t>
                      </m:r>
                      <m:d>
                        <m:dPr>
                          <m:ctrlPr>
                            <a:rPr lang="ar-AE" altLang="zh-CN" i="1"/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r>
                            <a:rPr lang="ar-AE" altLang="zh-CN"/>
                            <m:t>+</m:t>
                          </m:r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r>
                            <a:rPr lang="zh-CN" altLang="ar-AE" i="1"/>
                            <m:t>𝑃</m:t>
                          </m:r>
                        </m:e>
                      </m:d>
                      <m:sSub>
                        <m:sSubPr>
                          <m:ctrlPr>
                            <a:rPr lang="ar-AE" altLang="zh-CN" i="1"/>
                          </m:ctrlPr>
                        </m:sSubPr>
                        <m:e>
                          <m:r>
                            <a:rPr lang="zh-CN" altLang="ar-AE" i="1"/>
                            <m:t>𝑊</m:t>
                          </m:r>
                        </m:e>
                        <m:sub>
                          <m:r>
                            <a:rPr lang="zh-CN" altLang="ar-AE" i="1"/>
                            <m:t>𝑘</m:t>
                          </m:r>
                        </m:sub>
                      </m:sSub>
                      <m:r>
                        <a:rPr lang="ar-AE" altLang="zh-CN"/>
                        <m:t>,</m:t>
                      </m:r>
                      <m:r>
                        <m:rPr>
                          <m:nor/>
                        </m:rPr>
                        <a:rPr lang="ar-AE" altLang="zh-CN" i="1"/>
                        <m:t>  </m:t>
                      </m:r>
                      <m:r>
                        <a:rPr lang="zh-CN" altLang="ar-AE" i="1"/>
                        <m:t>𝑉</m:t>
                      </m:r>
                      <m:r>
                        <a:rPr lang="ar-AE" altLang="zh-CN"/>
                        <m:t>=</m:t>
                      </m:r>
                      <m:d>
                        <m:dPr>
                          <m:ctrlPr>
                            <a:rPr lang="ar-AE" altLang="zh-CN" i="1"/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i="1"/>
                              </m:ctrlPr>
                            </m:sSubPr>
                            <m:e>
                              <m:r>
                                <a:rPr lang="zh-CN" altLang="ar-AE" i="1"/>
                                <m:t>𝑋</m:t>
                              </m:r>
                            </m:e>
                            <m:sub>
                              <m:r>
                                <a:rPr lang="zh-CN" altLang="ar-AE" i="1"/>
                                <m:t>𝑣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r>
                            <a:rPr lang="ar-AE" altLang="zh-CN"/>
                            <m:t>+</m:t>
                          </m:r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r>
                            <a:rPr lang="zh-CN" altLang="ar-AE" i="1"/>
                            <m:t>𝑃</m:t>
                          </m:r>
                        </m:e>
                      </m:d>
                      <m:sSub>
                        <m:sSubPr>
                          <m:ctrlPr>
                            <a:rPr lang="ar-AE" altLang="zh-CN" i="1"/>
                          </m:ctrlPr>
                        </m:sSubPr>
                        <m:e>
                          <m:r>
                            <a:rPr lang="zh-CN" altLang="ar-AE" i="1"/>
                            <m:t>𝑊</m:t>
                          </m:r>
                        </m:e>
                        <m:sub>
                          <m:r>
                            <a:rPr lang="zh-CN" altLang="ar-AE" i="1"/>
                            <m:t>𝑣</m:t>
                          </m:r>
                        </m:sub>
                      </m:sSub>
                    </m:oMath>
                  </m:oMathPara>
                </a14:m>
                <a:endParaRPr lang="ar-AE" altLang="zh-CN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/>
                          </m:ctrlPr>
                        </m:sSubPr>
                        <m:e>
                          <m:r>
                            <a:rPr lang="zh-CN" altLang="ar-AE" i="1"/>
                            <m:t>𝑍</m:t>
                          </m:r>
                        </m:e>
                        <m:sub>
                          <m:r>
                            <a:rPr lang="zh-CN" altLang="ar-AE" i="1"/>
                            <m:t>𝑣</m:t>
                          </m:r>
                        </m:sub>
                      </m:sSub>
                      <m:r>
                        <a:rPr lang="ar-AE" altLang="zh-CN"/>
                        <m:t>=</m:t>
                      </m:r>
                      <m:r>
                        <m:rPr>
                          <m:nor/>
                        </m:rPr>
                        <a:rPr lang="en-US" altLang="zh-CN" i="1"/>
                        <m:t>softmax</m:t>
                      </m:r>
                      <m:r>
                        <m:rPr>
                          <m:nor/>
                        </m:rPr>
                        <a:rPr lang="en-US" altLang="zh-CN" i="1"/>
                        <m:t> </m:t>
                      </m:r>
                      <m:d>
                        <m:d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ar-AE" altLang="zh-CN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ar-AE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ar-AE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m:rPr>
                          <m:nor/>
                        </m:rPr>
                        <a:rPr lang="ar-AE" altLang="zh-CN" i="1"/>
                        <m:t> </m:t>
                      </m:r>
                      <m:r>
                        <a:rPr lang="zh-CN" altLang="ar-AE" i="1"/>
                        <m:t>𝑉</m:t>
                      </m:r>
                      <m:r>
                        <a:rPr lang="ar-AE" altLang="zh-CN"/>
                        <m:t>, </m:t>
                      </m:r>
                      <m:sSub>
                        <m:sSubPr>
                          <m:ctrlPr>
                            <a:rPr lang="ar-AE" altLang="zh-CN" i="1"/>
                          </m:ctrlPr>
                        </m:sSubPr>
                        <m:e>
                          <m:r>
                            <a:rPr lang="zh-CN" altLang="ar-AE" i="1"/>
                            <m:t>𝑀</m:t>
                          </m:r>
                        </m:e>
                        <m:sub>
                          <m:r>
                            <a:rPr lang="zh-CN" altLang="ar-AE" i="1"/>
                            <m:t>𝑖𝑗</m:t>
                          </m:r>
                        </m:sub>
                      </m:sSub>
                      <m:r>
                        <a:rPr lang="ar-AE" altLang="zh-CN"/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altLang="zh-CN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zh-CN" i="1"/>
                              </m:ctrlPr>
                            </m:mPr>
                            <m:mr>
                              <m:e>
                                <m:r>
                                  <a:rPr lang="ar-AE" altLang="zh-CN"/>
                                  <m:t>0</m:t>
                                </m:r>
                                <m:r>
                                  <a:rPr lang="ar-AE" altLang="zh-CN"/>
                                  <m:t>,</m:t>
                                </m:r>
                              </m:e>
                              <m:e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ar-AE" altLang="zh-CN"/>
                                  <m:t>≤</m:t>
                                </m:r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altLang="zh-CN"/>
                                  <m:t>−</m:t>
                                </m:r>
                                <m:r>
                                  <a:rPr lang="ar-AE" altLang="zh-CN"/>
                                  <m:t>∞</m:t>
                                </m:r>
                                <m:r>
                                  <a:rPr lang="ar-AE" altLang="zh-CN"/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en-US" i="1"/>
                      <m:t>𝑀</m:t>
                    </m:r>
                  </m:oMath>
                </a14:m>
                <a:r>
                  <a:rPr lang="zh-CN" altLang="en-US" dirty="0"/>
                  <a:t> 为因果掩码，使得未来不影响之前的。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多头：分头计算后</a:t>
                </a:r>
                <a:r>
                  <a:rPr lang="zh-CN" altLang="en-US" b="1" dirty="0"/>
                  <a:t>拼接</a:t>
                </a:r>
                <a:r>
                  <a:rPr lang="zh-CN" altLang="en-US" dirty="0"/>
                  <a:t>得到时间增强表示；再接前馈得到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/>
                        </m:ctrlPr>
                      </m:sSubSupPr>
                      <m:e>
                        <m:r>
                          <a:rPr lang="zh-CN" altLang="ar-AE" i="1"/>
                          <m:t>𝑒</m:t>
                        </m:r>
                      </m:e>
                      <m:sub>
                        <m:r>
                          <a:rPr lang="zh-CN" altLang="ar-AE" i="1"/>
                          <m:t>𝑣</m:t>
                        </m:r>
                      </m:sub>
                      <m:sup>
                        <m:r>
                          <a:rPr lang="zh-CN" altLang="ar-AE" i="1"/>
                          <m:t>𝑡</m:t>
                        </m:r>
                      </m:sup>
                    </m:sSubSup>
                  </m:oMath>
                </a14:m>
                <a:r>
                  <a:rPr lang="zh-CN" altLang="ar-AE" dirty="0"/>
                  <a:t>。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d</a:t>
                </a:r>
                <a:r>
                  <a:rPr lang="zh-CN" altLang="en-US" dirty="0"/>
                  <a:t>是头的投影维度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E0CB7B-F4BC-75B0-FCFF-81BFB3B68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5424F46D-FC66-3561-88D8-0C9028F8E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147" y="4808209"/>
            <a:ext cx="509587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82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86029-5D64-FAE3-5AD1-90A573C7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Graph-context prediction</a:t>
            </a:r>
            <a:r>
              <a:rPr lang="zh-CN" altLang="en-US" dirty="0"/>
              <a:t>（</a:t>
            </a:r>
            <a:r>
              <a:rPr lang="en-US" altLang="zh-CN" dirty="0"/>
              <a:t>Skip-gram </a:t>
            </a:r>
            <a:r>
              <a:rPr lang="zh-CN" altLang="en-US" dirty="0"/>
              <a:t>风格 </a:t>
            </a:r>
            <a:r>
              <a:rPr lang="en-US" altLang="zh-CN" dirty="0"/>
              <a:t>+ </a:t>
            </a:r>
            <a:r>
              <a:rPr lang="zh-CN" altLang="en-US" dirty="0"/>
              <a:t>负采样）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69DA41-F889-E238-9DCF-42981A950A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本文的</a:t>
                </a:r>
                <a:r>
                  <a:rPr lang="en-US" altLang="zh-CN" dirty="0"/>
                  <a:t>loss</a:t>
                </a:r>
                <a:r>
                  <a:rPr lang="zh-CN" altLang="en-US" dirty="0"/>
                  <a:t>计算：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时刻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嵌入</m:t>
                    </m:r>
                    <m:sSubSup>
                      <m:sSubSupPr>
                        <m:ctrlPr>
                          <a:rPr lang="ar-AE" altLang="zh-CN"/>
                        </m:ctrlPr>
                      </m:sSubSupPr>
                      <m:e>
                        <m:r>
                          <a:rPr lang="zh-CN" altLang="ar-AE" i="1"/>
                          <m:t>𝑒</m:t>
                        </m:r>
                      </m:e>
                      <m:sub>
                        <m:r>
                          <a:rPr lang="zh-CN" altLang="ar-AE" i="1"/>
                          <m:t>𝑣</m:t>
                        </m:r>
                      </m:sub>
                      <m:sup>
                        <m:r>
                          <a:rPr lang="zh-CN" altLang="ar-AE" i="1"/>
                          <m:t>𝑡</m:t>
                        </m:r>
                      </m:sup>
                    </m:sSubSup>
                  </m:oMath>
                </a14:m>
                <a:r>
                  <a:rPr lang="ar-AE" altLang="zh-CN" dirty="0"/>
                  <a:t> </a:t>
                </a:r>
                <a:r>
                  <a:rPr lang="zh-CN" altLang="en-US" dirty="0"/>
                  <a:t>能预测随机游走上下文节点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𝓋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CN" sz="2400" i="0" dirty="0">
                                      <a:latin typeface="Cambria Math" panose="02040503050406030204" pitchFamily="18" charset="0"/>
                                    </a:rPr>
                                    <m:t>walk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sub>
                            <m:sup/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</m:e>
                      </m:nary>
                      <m:func>
                        <m:func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i="0" dirty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  <m:sup>
                                  <m:r>
                                    <a:rPr lang="en-US" altLang="zh-CN" sz="2400" i="1" dirty="0" err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 err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2400" i="0" dirty="0">
                                  <a:latin typeface="Cambria Math" panose="02040503050406030204" pitchFamily="18" charset="0"/>
                                </a:rPr>
                                <m:t>neg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sub>
                        <m:sup/>
                        <m:e>
                          <m:func>
                            <m:func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b>
                                              <m:sSup>
                                                <m:sSupPr>
                                                  <m:ctrlPr>
                                                    <a:rPr lang="en-US" altLang="zh-CN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sub>
                                            <m:sup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CN" sz="2400" i="1" dirty="0" err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2400" i="1" dirty="0" err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dirty="0" err="1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2400" i="1" dirty="0" err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通过随机游走构建正负样本对，扩大正样本对向量积，缩小负样本之间的积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优化：前面部分越小，后面部分越小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69DA41-F889-E238-9DCF-42981A950A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521" r="-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50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516025-8164-5797-5FF4-03D8CDAC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3.DGODE</a:t>
            </a:r>
            <a:r>
              <a:rPr lang="zh-CN" altLang="en-US" sz="2400" dirty="0"/>
              <a:t>（</a:t>
            </a:r>
            <a:r>
              <a:rPr lang="en-US" altLang="zh-CN" sz="2400" dirty="0"/>
              <a:t>Dynamic Graph Neural ODE Network for MERC</a:t>
            </a:r>
            <a:r>
              <a:rPr lang="zh-CN" altLang="en-US" sz="2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5E8C38-85EF-2E44-E553-4640FB8D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对比对象</a:t>
            </a: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仅用 </a:t>
            </a:r>
            <a:r>
              <a:rPr lang="en-US" altLang="zh-CN" b="1" dirty="0"/>
              <a:t>GCN/GNN</a:t>
            </a:r>
            <a:r>
              <a:rPr lang="zh-CN" altLang="en-US" dirty="0"/>
              <a:t> 的方法</a:t>
            </a:r>
          </a:p>
          <a:p>
            <a:pPr marL="457200" lvl="1" indent="0">
              <a:buNone/>
            </a:pPr>
            <a:r>
              <a:rPr lang="zh-CN" altLang="en-US" dirty="0"/>
              <a:t>仅用 </a:t>
            </a:r>
            <a:r>
              <a:rPr lang="en-US" altLang="zh-CN" b="1" dirty="0"/>
              <a:t>RNN/Transformer</a:t>
            </a:r>
            <a:r>
              <a:rPr lang="zh-CN" altLang="en-US" dirty="0"/>
              <a:t> 序列建模的方法（</a:t>
            </a:r>
            <a:r>
              <a:rPr lang="en-US" altLang="zh-CN" dirty="0" err="1"/>
              <a:t>CTNet</a:t>
            </a:r>
            <a:r>
              <a:rPr lang="zh-CN" altLang="en-US" dirty="0"/>
              <a:t>、</a:t>
            </a:r>
            <a:r>
              <a:rPr lang="en-US" altLang="zh-CN" dirty="0" err="1"/>
              <a:t>EmoBERTa</a:t>
            </a:r>
            <a:r>
              <a:rPr lang="en-US" altLang="zh-CN" dirty="0"/>
              <a:t> </a:t>
            </a:r>
            <a:r>
              <a:rPr lang="zh-CN" altLang="en-US" dirty="0"/>
              <a:t>等）</a:t>
            </a:r>
          </a:p>
          <a:p>
            <a:pPr marL="0" indent="0">
              <a:buNone/>
            </a:pPr>
            <a:r>
              <a:rPr lang="zh-CN" altLang="en-US" b="1" dirty="0"/>
              <a:t>存在问题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b="1" dirty="0"/>
              <a:t>GCN </a:t>
            </a:r>
            <a:r>
              <a:rPr lang="zh-CN" altLang="en-US" b="1" dirty="0"/>
              <a:t>深层退化 </a:t>
            </a:r>
            <a:r>
              <a:rPr lang="en-US" altLang="zh-CN" b="1" dirty="0"/>
              <a:t>/ </a:t>
            </a:r>
            <a:r>
              <a:rPr lang="zh-CN" altLang="en-US" b="1" dirty="0"/>
              <a:t>过平滑 </a:t>
            </a:r>
            <a:r>
              <a:rPr lang="en-US" altLang="zh-CN" b="1" dirty="0"/>
              <a:t>/ </a:t>
            </a:r>
            <a:r>
              <a:rPr lang="zh-CN" altLang="en-US" b="1" dirty="0"/>
              <a:t>易过拟合</a:t>
            </a:r>
            <a:r>
              <a:rPr lang="zh-CN" altLang="en-US" dirty="0"/>
              <a:t>：层数↑，节点表征趋同。</a:t>
            </a:r>
          </a:p>
          <a:p>
            <a:pPr marL="457200" lvl="1" indent="0">
              <a:buNone/>
            </a:pPr>
            <a:r>
              <a:rPr lang="zh-CN" altLang="en-US" b="1" dirty="0"/>
              <a:t>时间依赖缺失</a:t>
            </a:r>
            <a:r>
              <a:rPr lang="zh-CN" altLang="en-US" dirty="0"/>
              <a:t>：</a:t>
            </a:r>
            <a:r>
              <a:rPr lang="en-US" altLang="zh-CN" dirty="0"/>
              <a:t>GCN</a:t>
            </a:r>
            <a:r>
              <a:rPr lang="zh-CN" altLang="en-US" dirty="0"/>
              <a:t>通常在静态图做一次传播，难以刻画说话人情绪</a:t>
            </a:r>
            <a:r>
              <a:rPr lang="zh-CN" altLang="en-US" b="1" dirty="0"/>
              <a:t>随时间连续变化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2575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E3C48-6DF6-9F96-307B-60A1588E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优点以及解决的问题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E66327-3E43-01AD-C153-8ACCAF23C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可加深</a:t>
            </a:r>
            <a:r>
              <a:rPr lang="zh-CN" altLang="en-US" dirty="0"/>
              <a:t>：比 </a:t>
            </a:r>
            <a:r>
              <a:rPr lang="en-US" altLang="zh-CN" dirty="0"/>
              <a:t>vanilla GCN </a:t>
            </a:r>
            <a:r>
              <a:rPr lang="zh-CN" altLang="en-US" dirty="0"/>
              <a:t>更抗过平滑，层数增加性能不崩（文中随层数上升更稳）。</a:t>
            </a:r>
          </a:p>
          <a:p>
            <a:pPr marL="0" indent="0">
              <a:buNone/>
            </a:pPr>
            <a:r>
              <a:rPr lang="zh-CN" altLang="en-US" b="1" dirty="0"/>
              <a:t>时间连续性</a:t>
            </a:r>
            <a:r>
              <a:rPr lang="zh-CN" altLang="en-US" dirty="0"/>
              <a:t>：</a:t>
            </a:r>
            <a:r>
              <a:rPr lang="en-US" altLang="zh-CN" dirty="0"/>
              <a:t>ODE </a:t>
            </a:r>
            <a:r>
              <a:rPr lang="zh-CN" altLang="en-US" dirty="0"/>
              <a:t>演化让“上一时刻的情绪状态”自然影响之后时刻。</a:t>
            </a:r>
          </a:p>
          <a:p>
            <a:pPr marL="0" indent="0">
              <a:buNone/>
            </a:pPr>
            <a:r>
              <a:rPr lang="zh-CN" altLang="en-US" b="1" dirty="0"/>
              <a:t>多模态融合到图</a:t>
            </a:r>
            <a:r>
              <a:rPr lang="zh-CN" altLang="en-US" dirty="0"/>
              <a:t>：文本</a:t>
            </a:r>
            <a:r>
              <a:rPr lang="en-US" altLang="zh-CN" dirty="0"/>
              <a:t>/</a:t>
            </a:r>
            <a:r>
              <a:rPr lang="zh-CN" altLang="en-US" dirty="0"/>
              <a:t>音频</a:t>
            </a:r>
            <a:r>
              <a:rPr lang="en-US" altLang="zh-CN" dirty="0"/>
              <a:t>/</a:t>
            </a:r>
            <a:r>
              <a:rPr lang="zh-CN" altLang="en-US" dirty="0"/>
              <a:t>视频 </a:t>
            </a:r>
            <a:r>
              <a:rPr lang="en-US" altLang="zh-CN" dirty="0"/>
              <a:t>+ </a:t>
            </a:r>
            <a:r>
              <a:rPr lang="zh-CN" altLang="en-US" dirty="0"/>
              <a:t>说话人嵌入 → 构图后再统一做 </a:t>
            </a:r>
            <a:r>
              <a:rPr lang="en-US" altLang="zh-CN" dirty="0" err="1"/>
              <a:t>MixHop</a:t>
            </a:r>
            <a:r>
              <a:rPr lang="en-US" altLang="zh-CN" dirty="0"/>
              <a:t> + ODE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597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9051D69-4F6E-93F3-F2B8-E5ECBEE43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29" y="0"/>
            <a:ext cx="9340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61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96742-165C-1E3F-80E5-2DF1ED22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架构 </a:t>
            </a:r>
            <a:r>
              <a:rPr lang="en-US" altLang="zh-CN" dirty="0"/>
              <a:t>NN-1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A47CD37-9E1C-91F8-6263-31FB0F0D1F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多模态特征抽取</a:t>
                </a:r>
                <a:endParaRPr lang="zh-CN" altLang="en-US" dirty="0"/>
              </a:p>
              <a:p>
                <a:pPr marL="0" indent="0">
                  <a:buNone/>
                </a:pPr>
                <a:r>
                  <a:rPr lang="en-US" altLang="zh-CN" dirty="0"/>
                  <a:t>Text: </a:t>
                </a:r>
                <a:r>
                  <a:rPr lang="en-US" altLang="zh-CN" dirty="0" err="1"/>
                  <a:t>RoBERTa</a:t>
                </a:r>
                <a:r>
                  <a:rPr lang="en-US" altLang="zh-CN" dirty="0"/>
                  <a:t> → </a:t>
                </a:r>
                <a:r>
                  <a:rPr lang="zh-CN" altLang="en-US" dirty="0"/>
                  <a:t>上下文嵌入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Audio: </a:t>
                </a:r>
                <a:r>
                  <a:rPr lang="en-US" altLang="zh-CN" dirty="0" err="1"/>
                  <a:t>openSMILE</a:t>
                </a:r>
                <a:r>
                  <a:rPr lang="zh-CN" altLang="en-US" dirty="0"/>
                  <a:t>；</a:t>
                </a:r>
                <a:r>
                  <a:rPr lang="en-US" altLang="zh-CN" dirty="0"/>
                  <a:t>Video: </a:t>
                </a:r>
                <a:r>
                  <a:rPr lang="en-US" altLang="zh-CN" dirty="0" err="1"/>
                  <a:t>DenseNet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说话人 </a:t>
                </a:r>
                <a:r>
                  <a:rPr lang="en-US" altLang="zh-CN" dirty="0"/>
                  <a:t>one-hot → Embedding</a:t>
                </a:r>
                <a:r>
                  <a:rPr lang="zh-CN" altLang="en-US" dirty="0"/>
                  <a:t>，加入到各模态表示中（</a:t>
                </a:r>
                <a:r>
                  <a:rPr lang="en-US" altLang="zh-CN" dirty="0"/>
                  <a:t>Bi-GRU </a:t>
                </a:r>
                <a:r>
                  <a:rPr lang="zh-CN" altLang="en-US" dirty="0"/>
                  <a:t>做上下文编码）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得到每个话语的 </a:t>
                </a:r>
                <a:r>
                  <a:rPr lang="zh-CN" altLang="en-US" b="1" dirty="0"/>
                  <a:t>单模态</a:t>
                </a:r>
                <a:r>
                  <a:rPr lang="en-US" altLang="zh-CN" b="1" dirty="0"/>
                  <a:t>/</a:t>
                </a:r>
                <a:r>
                  <a:rPr lang="zh-CN" altLang="en-US" b="1" dirty="0"/>
                  <a:t>融合嵌入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/>
                        </m:ctrlPr>
                      </m:sSubPr>
                      <m:e>
                        <m:r>
                          <a:rPr lang="zh-CN" altLang="ar-AE" i="1"/>
                          <m:t>𝐻</m:t>
                        </m:r>
                      </m:e>
                      <m:sub>
                        <m:r>
                          <a:rPr lang="ar-AE" altLang="zh-CN"/>
                          <m:t>0</m:t>
                        </m:r>
                      </m:sub>
                    </m:sSub>
                  </m:oMath>
                </a14:m>
                <a:endParaRPr lang="ar-AE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A47CD37-9E1C-91F8-6263-31FB0F0D1F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 r="-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66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35D88-E7DC-9D9F-0DCE-DC6F1D69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架构 </a:t>
            </a:r>
            <a:r>
              <a:rPr lang="en-US" altLang="zh-CN" dirty="0"/>
              <a:t>NN-2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2E3521-B9D4-BC53-CAE9-54480DC666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Adaptive </a:t>
                </a:r>
                <a:r>
                  <a:rPr lang="en-US" altLang="zh-CN" b="1" dirty="0" err="1"/>
                  <a:t>MixHop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基于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altLang="zh-CN" smtClean="0"/>
                          </m:ctrlPr>
                        </m:mPr>
                        <m:mr>
                          <m:e/>
                          <m:e>
                            <m:sSup>
                              <m:sSupPr>
                                <m:ctrlPr>
                                  <a:rPr lang="ar-AE" altLang="zh-CN"/>
                                </m:ctrlPr>
                              </m:sSupPr>
                              <m:e>
                                <m:r>
                                  <a:rPr lang="zh-CN" altLang="ar-AE" i="1"/>
                                  <m:t>𝐻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altLang="zh-CN" i="1"/>
                                    </m:ctrlPr>
                                  </m:dPr>
                                  <m:e>
                                    <m:r>
                                      <a:rPr lang="zh-CN" altLang="ar-AE" i="1"/>
                                      <m:t>𝑛</m:t>
                                    </m:r>
                                    <m:r>
                                      <a:rPr lang="ar-AE" altLang="zh-CN"/>
                                      <m:t>+</m:t>
                                    </m:r>
                                    <m:r>
                                      <a:rPr lang="ar-AE" altLang="zh-CN"/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ar-AE" altLang="zh-CN"/>
                              <m:t>=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altLang="zh-CN" i="1"/>
                                </m:ctrlPr>
                              </m:naryPr>
                              <m:sub>
                                <m:r>
                                  <a:rPr lang="zh-CN" altLang="ar-AE" i="1"/>
                                  <m:t>𝑘</m:t>
                                </m:r>
                                <m:r>
                                  <a:rPr lang="ar-AE" altLang="zh-CN"/>
                                  <m:t>=</m:t>
                                </m:r>
                                <m:r>
                                  <a:rPr lang="ar-AE" altLang="zh-CN"/>
                                  <m:t>1</m:t>
                                </m:r>
                              </m:sub>
                              <m:sup>
                                <m:r>
                                  <a:rPr lang="zh-CN" altLang="ar-AE" i="1"/>
                                  <m:t>𝐾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ar-AE" altLang="zh-CN" i="1"/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ar-AE" altLang="zh-CN" i="1"/>
                                        </m:ctrlPr>
                                      </m:accPr>
                                      <m:e>
                                        <m:r>
                                          <a:rPr lang="zh-CN" altLang="ar-AE" i="1"/>
                                          <m:t>𝐴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ar-AE" altLang="zh-CN" i="1"/>
                                      <m:t> </m:t>
                                    </m:r>
                                    <m:r>
                                      <a:rPr lang="zh-CN" altLang="ar-AE" i="1"/>
                                      <m:t>𝑘</m:t>
                                    </m:r>
                                  </m:sup>
                                </m:sSup>
                              </m:e>
                            </m:nary>
                            <m:sSup>
                              <m:sSupPr>
                                <m:ctrlPr>
                                  <a:rPr lang="ar-AE" altLang="zh-CN" i="1"/>
                                </m:ctrlPr>
                              </m:sSupPr>
                              <m:e>
                                <m:r>
                                  <a:rPr lang="zh-CN" altLang="ar-AE" i="1"/>
                                  <m:t>𝐻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altLang="zh-CN" i="1"/>
                                    </m:ctrlPr>
                                  </m:dPr>
                                  <m:e>
                                    <m:r>
                                      <a:rPr lang="zh-CN" altLang="ar-AE" i="1"/>
                                      <m:t>𝑛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zh-CN" altLang="ar-AE" i="1"/>
                              <m:t>𝑊</m:t>
                            </m:r>
                            <m:r>
                              <m:rPr>
                                <m:nor/>
                              </m:rPr>
                              <a:rPr lang="ar-AE" altLang="zh-CN" i="1"/>
                              <m:t>  </m:t>
                            </m:r>
                            <m:r>
                              <a:rPr lang="ar-AE" altLang="zh-CN"/>
                              <m:t>+</m:t>
                            </m:r>
                            <m:r>
                              <m:rPr>
                                <m:nor/>
                              </m:rPr>
                              <a:rPr lang="ar-AE" altLang="zh-CN" i="1"/>
                              <m:t>  </m:t>
                            </m:r>
                            <m:sSup>
                              <m:sSupPr>
                                <m:ctrlPr>
                                  <a:rPr lang="ar-AE" altLang="zh-CN" i="1"/>
                                </m:ctrlPr>
                              </m:sSupPr>
                              <m:e>
                                <m:r>
                                  <a:rPr lang="zh-CN" altLang="ar-AE" i="1"/>
                                  <m:t>𝐻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altLang="zh-CN" i="1"/>
                                    </m:ctrlPr>
                                  </m:dPr>
                                  <m:e>
                                    <m:r>
                                      <a:rPr lang="ar-AE" altLang="zh-CN"/>
                                      <m:t>0</m:t>
                                    </m:r>
                                  </m:e>
                                </m:d>
                              </m:sup>
                            </m:sSup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altLang="zh-CN" b="0" dirty="0"/>
              </a:p>
              <a:p>
                <a:pPr marL="0" indent="0">
                  <a:buNone/>
                </a:pPr>
                <a:r>
                  <a:rPr lang="zh-CN" altLang="en-US" dirty="0"/>
                  <a:t>加</a:t>
                </a:r>
                <a:r>
                  <a:rPr lang="zh-CN" altLang="en-US" b="1" dirty="0"/>
                  <a:t>自适应权重</a:t>
                </a:r>
                <a:r>
                  <a:rPr lang="zh-CN" altLang="en-US" dirty="0"/>
                  <a:t>来防止某些 </a:t>
                </a:r>
                <a:r>
                  <a:rPr lang="en-US" altLang="zh-CN" dirty="0"/>
                  <a:t>hop </a:t>
                </a:r>
                <a:r>
                  <a:rPr lang="zh-CN" altLang="en-US" dirty="0"/>
                  <a:t>过度放大：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altLang="zh-CN"/>
                          </m:ctrlPr>
                        </m:mPr>
                        <m:mr>
                          <m:e/>
                          <m:e>
                            <m:sSup>
                              <m:sSupPr>
                                <m:ctrlPr>
                                  <a:rPr lang="ar-AE" altLang="zh-CN"/>
                                </m:ctrlPr>
                              </m:sSupPr>
                              <m:e>
                                <m:r>
                                  <a:rPr lang="zh-CN" altLang="ar-AE" i="1"/>
                                  <m:t>𝐻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altLang="zh-CN" i="1"/>
                                    </m:ctrlPr>
                                  </m:dPr>
                                  <m:e>
                                    <m:r>
                                      <a:rPr lang="zh-CN" altLang="ar-AE" i="1"/>
                                      <m:t>𝑛</m:t>
                                    </m:r>
                                    <m:r>
                                      <a:rPr lang="ar-AE" altLang="zh-CN"/>
                                      <m:t>+</m:t>
                                    </m:r>
                                    <m:r>
                                      <a:rPr lang="ar-AE" altLang="zh-CN"/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ar-AE" altLang="zh-CN"/>
                              <m:t>=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altLang="zh-CN" i="1"/>
                                </m:ctrlPr>
                              </m:naryPr>
                              <m:sub>
                                <m:r>
                                  <a:rPr lang="zh-CN" altLang="ar-AE" i="1"/>
                                  <m:t>𝑘</m:t>
                                </m:r>
                                <m:r>
                                  <a:rPr lang="ar-AE" altLang="zh-CN"/>
                                  <m:t>=</m:t>
                                </m:r>
                                <m:r>
                                  <a:rPr lang="ar-AE" altLang="zh-CN"/>
                                  <m:t>1</m:t>
                                </m:r>
                              </m:sub>
                              <m:sup>
                                <m:r>
                                  <a:rPr lang="zh-CN" altLang="ar-AE" i="1"/>
                                  <m:t>𝐾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ar-AE" altLang="zh-CN" i="1"/>
                                    </m:ctrlPr>
                                  </m:sSubSupPr>
                                  <m:e>
                                    <m:r>
                                      <a:rPr lang="zh-CN" altLang="ar-AE" i="1"/>
                                      <m:t>𝛼</m:t>
                                    </m:r>
                                  </m:e>
                                  <m:sub>
                                    <m:r>
                                      <a:rPr lang="zh-CN" altLang="ar-AE" i="1"/>
                                      <m:t>𝑘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ar-AE" altLang="zh-CN" i="1"/>
                                        </m:ctrlPr>
                                      </m:dPr>
                                      <m:e>
                                        <m:r>
                                          <a:rPr lang="zh-CN" altLang="ar-AE" i="1"/>
                                          <m:t>𝑛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nary>
                            <m:r>
                              <a:rPr lang="ar-AE" altLang="zh-CN"/>
                              <m:t>(</m:t>
                            </m:r>
                            <m:sSup>
                              <m:sSupPr>
                                <m:ctrlPr>
                                  <a:rPr lang="ar-AE" altLang="zh-CN" i="1"/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altLang="zh-CN" i="1"/>
                                    </m:ctrlPr>
                                  </m:accPr>
                                  <m:e>
                                    <m:r>
                                      <a:rPr lang="zh-CN" altLang="ar-AE" i="1"/>
                                      <m:t>𝐴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ar-AE" altLang="zh-CN" i="1"/>
                                  <m:t> </m:t>
                                </m:r>
                                <m:r>
                                  <a:rPr lang="zh-CN" altLang="ar-AE" i="1"/>
                                  <m:t>𝑘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ar-AE" altLang="zh-CN" i="1"/>
                                </m:ctrlPr>
                              </m:sSupPr>
                              <m:e>
                                <m:r>
                                  <a:rPr lang="zh-CN" altLang="ar-AE" i="1"/>
                                  <m:t>𝐻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altLang="zh-CN" i="1"/>
                                    </m:ctrlPr>
                                  </m:dPr>
                                  <m:e>
                                    <m:r>
                                      <a:rPr lang="zh-CN" altLang="ar-AE" i="1"/>
                                      <m:t>𝑛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zh-CN" altLang="ar-AE" i="1"/>
                              <m:t>𝑊</m:t>
                            </m:r>
                            <m:r>
                              <a:rPr lang="ar-AE" altLang="zh-CN"/>
                              <m:t>)</m:t>
                            </m:r>
                            <m:r>
                              <m:rPr>
                                <m:nor/>
                              </m:rPr>
                              <a:rPr lang="ar-AE" altLang="zh-CN" i="1"/>
                              <m:t>  </m:t>
                            </m:r>
                            <m:r>
                              <a:rPr lang="ar-AE" altLang="zh-CN"/>
                              <m:t>+</m:t>
                            </m:r>
                            <m:r>
                              <m:rPr>
                                <m:nor/>
                              </m:rPr>
                              <a:rPr lang="ar-AE" altLang="zh-CN" i="1"/>
                              <m:t>  </m:t>
                            </m:r>
                            <m:sSup>
                              <m:sSupPr>
                                <m:ctrlPr>
                                  <a:rPr lang="ar-AE" altLang="zh-CN" i="1"/>
                                </m:ctrlPr>
                              </m:sSupPr>
                              <m:e>
                                <m:r>
                                  <a:rPr lang="zh-CN" altLang="ar-AE" i="1"/>
                                  <m:t>𝛽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altLang="zh-CN" i="1"/>
                                    </m:ctrlPr>
                                  </m:dPr>
                                  <m:e>
                                    <m:r>
                                      <a:rPr lang="zh-CN" altLang="ar-AE" i="1"/>
                                      <m:t>𝑛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ar-AE" altLang="zh-CN" i="1"/>
                                </m:ctrlPr>
                              </m:sSupPr>
                              <m:e>
                                <m:r>
                                  <a:rPr lang="zh-CN" altLang="ar-AE" i="1"/>
                                  <m:t>𝐻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altLang="zh-CN" i="1"/>
                                    </m:ctrlPr>
                                  </m:dPr>
                                  <m:e>
                                    <m:r>
                                      <a:rPr lang="ar-AE" altLang="zh-CN"/>
                                      <m:t>0</m:t>
                                    </m:r>
                                  </m:e>
                                </m:d>
                              </m:sup>
                            </m:sSup>
                          </m:e>
                          <m:e/>
                          <m:e>
                            <m:r>
                              <m:rPr>
                                <m:nor/>
                              </m:rPr>
                              <a:rPr lang="ar-AE" altLang="zh-CN" i="1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CN" i="1"/>
                              <m:t>Adaptive</m:t>
                            </m:r>
                            <m:r>
                              <m:rPr>
                                <m:nor/>
                              </m:rPr>
                              <a:rPr lang="en-US" altLang="zh-CN" i="1"/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ar-AE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2E3521-B9D4-BC53-CAE9-54480DC666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7895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0EE5D-AC6B-FBA3-6327-198E7E81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架构 </a:t>
            </a:r>
            <a:r>
              <a:rPr lang="en-US" altLang="zh-CN" dirty="0"/>
              <a:t>NN-3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AC6D8EF-841B-66D0-B92D-0426F0C72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Graph ODE</a:t>
                </a:r>
                <a:r>
                  <a:rPr lang="zh-CN" altLang="en-US" b="1" dirty="0"/>
                  <a:t>（时间依赖捕获）</a:t>
                </a:r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将上式离散传播视为积分近似，得到连续动力学（命题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）：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altLang="zh-CN"/>
                        </m:ctrlPr>
                      </m:mPr>
                      <m:mr>
                        <m:e/>
                        <m:e>
                          <m:f>
                            <m:fPr>
                              <m:ctrlPr>
                                <a:rPr lang="ar-AE" altLang="zh-CN"/>
                              </m:ctrlPr>
                            </m:fPr>
                            <m:num>
                              <m:r>
                                <a:rPr lang="zh-CN" altLang="ar-AE" i="1"/>
                                <m:t>𝑑𝐻</m:t>
                              </m:r>
                              <m:d>
                                <m:dPr>
                                  <m:ctrlPr>
                                    <a:rPr lang="ar-AE" altLang="zh-CN" i="1"/>
                                  </m:ctrlPr>
                                </m:dPr>
                                <m:e>
                                  <m:r>
                                    <a:rPr lang="zh-CN" altLang="ar-AE" i="1"/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altLang="ar-AE" i="1"/>
                                <m:t>𝑑𝑡</m:t>
                              </m:r>
                            </m:den>
                          </m:f>
                          <m:r>
                            <a:rPr lang="ar-AE" altLang="zh-CN"/>
                            <m:t>=</m:t>
                          </m:r>
                          <m:f>
                            <m:fPr>
                              <m:ctrlPr>
                                <a:rPr lang="ar-AE" altLang="zh-CN" i="1"/>
                              </m:ctrlPr>
                            </m:fPr>
                            <m:num>
                              <m:r>
                                <a:rPr lang="ar-AE" altLang="zh-CN"/>
                                <m:t>1</m:t>
                              </m:r>
                            </m:num>
                            <m:den>
                              <m:r>
                                <a:rPr lang="zh-CN" altLang="ar-AE" i="1"/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grow m:val="on"/>
                              <m:ctrlPr>
                                <a:rPr lang="ar-AE" altLang="zh-CN" i="1"/>
                              </m:ctrlPr>
                            </m:naryPr>
                            <m:sub>
                              <m:r>
                                <a:rPr lang="zh-CN" altLang="ar-AE" i="1"/>
                                <m:t>𝑘</m:t>
                              </m:r>
                              <m:r>
                                <a:rPr lang="ar-AE" altLang="zh-CN"/>
                                <m:t>=</m:t>
                              </m:r>
                              <m:r>
                                <a:rPr lang="ar-AE" altLang="zh-CN"/>
                                <m:t>1</m:t>
                              </m:r>
                            </m:sub>
                            <m:sup>
                              <m:r>
                                <a:rPr lang="zh-CN" altLang="ar-AE" i="1"/>
                                <m:t>𝑁</m:t>
                              </m:r>
                            </m:sup>
                            <m:e>
                              <m:r>
                                <a:rPr lang="ar-AE" altLang="zh-CN"/>
                                <m:t>(</m:t>
                              </m:r>
                            </m:e>
                          </m:nary>
                          <m:func>
                            <m:funcPr>
                              <m:ctrlPr>
                                <a:rPr lang="ar-AE" altLang="zh-CN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/>
                                <m:t>ln</m:t>
                              </m:r>
                            </m:fName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CN" i="1"/>
                                  </m:ctrlPr>
                                </m:accPr>
                                <m:e>
                                  <m:r>
                                    <a:rPr lang="zh-CN" altLang="ar-AE" i="1"/>
                                    <m:t>𝐴</m:t>
                                  </m:r>
                                </m:e>
                              </m:acc>
                            </m:e>
                          </m:func>
                          <m:r>
                            <m:rPr>
                              <m:nor/>
                            </m:rPr>
                            <a:rPr lang="ar-AE" altLang="zh-CN" i="1"/>
                            <m:t>  </m:t>
                          </m:r>
                          <m:r>
                            <a:rPr lang="zh-CN" altLang="ar-AE" i="1"/>
                            <m:t>𝐻</m:t>
                          </m:r>
                          <m:d>
                            <m:dPr>
                              <m:ctrlPr>
                                <a:rPr lang="ar-AE" altLang="zh-CN" i="1"/>
                              </m:ctrlPr>
                            </m:dPr>
                            <m:e>
                              <m:r>
                                <a:rPr lang="zh-CN" altLang="ar-AE" i="1"/>
                                <m:t>𝑡</m:t>
                              </m:r>
                            </m:e>
                          </m:d>
                          <m:r>
                            <a:rPr lang="ar-AE" altLang="zh-CN"/>
                            <m:t>+</m:t>
                          </m:r>
                          <m:r>
                            <a:rPr lang="zh-CN" altLang="ar-AE" i="1"/>
                            <m:t>𝐻</m:t>
                          </m:r>
                          <m:d>
                            <m:dPr>
                              <m:ctrlPr>
                                <a:rPr lang="ar-AE" altLang="zh-CN" i="1"/>
                              </m:ctrlPr>
                            </m:dPr>
                            <m:e>
                              <m:r>
                                <a:rPr lang="zh-CN" altLang="ar-AE" i="1"/>
                                <m:t>𝑡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altLang="zh-CN" i="1"/>
                            <m:t> </m:t>
                          </m:r>
                          <m:func>
                            <m:funcPr>
                              <m:ctrlPr>
                                <a:rPr lang="ar-AE" altLang="zh-CN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/>
                                <m:t>ln</m:t>
                              </m:r>
                            </m:fName>
                            <m:e>
                              <m:r>
                                <a:rPr lang="zh-CN" altLang="ar-AE" i="1"/>
                                <m:t>𝑊</m:t>
                              </m:r>
                            </m:e>
                          </m:func>
                          <m:r>
                            <a:rPr lang="ar-AE" altLang="zh-CN"/>
                            <m:t>+</m:t>
                          </m:r>
                          <m:r>
                            <a:rPr lang="zh-CN" altLang="ar-AE" i="1"/>
                            <m:t>𝐸</m:t>
                          </m:r>
                          <m:r>
                            <a:rPr lang="ar-AE" altLang="zh-CN"/>
                            <m:t>)</m:t>
                          </m:r>
                        </m:e>
                        <m:e/>
                        <m:e/>
                      </m:mr>
                    </m:m>
                  </m:oMath>
                </a14:m>
                <a:endParaRPr lang="ar-AE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altLang="zh-CN"/>
                          </m:ctrlPr>
                        </m:mPr>
                        <m:mr>
                          <m:e/>
                          <m:e>
                            <m:r>
                              <a:rPr lang="zh-CN" altLang="ar-AE" i="1"/>
                              <m:t>𝐻</m:t>
                            </m:r>
                            <m:d>
                              <m:dPr>
                                <m:ctrlPr>
                                  <a:rPr lang="ar-AE" altLang="zh-CN" i="1"/>
                                </m:ctrlPr>
                              </m:dPr>
                              <m:e>
                                <m:r>
                                  <a:rPr lang="zh-CN" altLang="ar-AE" i="1"/>
                                  <m:t>𝑡</m:t>
                                </m:r>
                              </m:e>
                            </m:d>
                            <m:r>
                              <a:rPr lang="ar-AE" altLang="zh-CN"/>
                              <m:t>=</m:t>
                            </m:r>
                            <m:r>
                              <m:rPr>
                                <m:nor/>
                              </m:rPr>
                              <a:rPr lang="en-US" altLang="zh-CN" i="1"/>
                              <m:t>ODESolver</m:t>
                            </m:r>
                            <m:r>
                              <m:rPr>
                                <m:nor/>
                              </m:rPr>
                              <a:rPr lang="en-US" altLang="zh-CN" i="1"/>
                              <m:t> </m:t>
                            </m:r>
                            <m:d>
                              <m:dPr>
                                <m:sepChr m:val=","/>
                                <m:ctrlPr>
                                  <a:rPr lang="ar-AE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ar-AE" i="1">
                                        <a:latin typeface="Cambria Math" panose="02040503050406030204" pitchFamily="18" charset="0"/>
                                      </a:rPr>
                                      <m:t>𝑑𝐻</m:t>
                                    </m:r>
                                  </m:num>
                                  <m:den>
                                    <m:r>
                                      <a:rPr lang="zh-CN" altLang="ar-AE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  <m:e>
                                <m:sSub>
                                  <m:sSub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ar-AE" altLang="zh-CN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altLang="zh-CN" b="0" dirty="0"/>
              </a:p>
              <a:p>
                <a:pPr marL="0" indent="0">
                  <a:buNone/>
                </a:pPr>
                <a:r>
                  <a:rPr lang="zh-CN" altLang="en-US" dirty="0"/>
                  <a:t>用高阶 </a:t>
                </a:r>
                <a:r>
                  <a:rPr lang="en-US" altLang="zh-CN" dirty="0"/>
                  <a:t>ODE </a:t>
                </a:r>
                <a:r>
                  <a:rPr lang="zh-CN" altLang="en-US" dirty="0"/>
                  <a:t>求解器在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zh-CN"/>
                        </m:ctrlPr>
                      </m:dPr>
                      <m:e>
                        <m:r>
                          <a:rPr lang="ar-AE" altLang="zh-CN"/>
                          <m:t>0</m:t>
                        </m:r>
                      </m:e>
                      <m:e>
                        <m:r>
                          <a:rPr lang="zh-CN" altLang="ar-AE" i="1"/>
                          <m:t>𝑇</m:t>
                        </m:r>
                      </m:e>
                    </m:d>
                  </m:oMath>
                </a14:m>
                <a:r>
                  <a:rPr lang="zh-CN" altLang="en-US" dirty="0"/>
                  <a:t>上演化，得到时间维的节点表征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AC6D8EF-841B-66D0-B92D-0426F0C72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3451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015A4-DC7D-383F-EBEC-9BA940980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77228E-4951-0828-91E0-817C9DD98A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b="1" dirty="0"/>
                  <a:t>分类头（</a:t>
                </a:r>
                <a:r>
                  <a:rPr lang="en-US" altLang="zh-CN" b="1" dirty="0"/>
                  <a:t>Emotion Classifier</a:t>
                </a:r>
                <a:r>
                  <a:rPr lang="zh-CN" altLang="en-US" b="1" dirty="0"/>
                  <a:t>）</a:t>
                </a:r>
                <a:endParaRPr lang="en-US" altLang="zh-CN" dirty="0"/>
              </a:p>
              <a:p>
                <a:r>
                  <a:rPr lang="zh-CN" altLang="en-US" dirty="0"/>
                  <a:t>全连接 </a:t>
                </a:r>
                <a:r>
                  <a:rPr lang="en-US" altLang="zh-CN" dirty="0"/>
                  <a:t>+ </a:t>
                </a:r>
                <a:r>
                  <a:rPr lang="en-US" altLang="zh-CN" dirty="0" err="1"/>
                  <a:t>ReLU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若干层：</a:t>
                </a:r>
              </a:p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altLang="zh-CN"/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ar-AE" altLang="zh-CN"/>
                              </m:ctrlPr>
                            </m:sSubPr>
                            <m:e>
                              <m:r>
                                <a:rPr lang="ar-AE" altLang="zh-CN"/>
                                <m:t>ℓ</m:t>
                              </m:r>
                            </m:e>
                            <m:sub>
                              <m:r>
                                <a:rPr lang="zh-CN" altLang="ar-AE" i="1"/>
                                <m:t>𝑖</m:t>
                              </m:r>
                            </m:sub>
                          </m:sSub>
                          <m:r>
                            <a:rPr lang="ar-AE" altLang="zh-CN"/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CN" i="1"/>
                            <m:t>ReLU</m:t>
                          </m:r>
                          <m:d>
                            <m:dPr>
                              <m:ctrlPr>
                                <a:rPr lang="ar-AE" altLang="zh-CN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CN" i="1"/>
                                  </m:ctrlPr>
                                </m:sSubPr>
                                <m:e>
                                  <m:r>
                                    <a:rPr lang="zh-CN" altLang="ar-AE" i="1"/>
                                    <m:t>𝑊</m:t>
                                  </m:r>
                                </m:e>
                                <m:sub>
                                  <m:r>
                                    <a:rPr lang="ar-AE" altLang="zh-CN"/>
                                    <m:t>ℓ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altLang="zh-CN" i="1"/>
                                  </m:ctrlPr>
                                </m:sSubPr>
                                <m:e>
                                  <m:r>
                                    <a:rPr lang="zh-CN" altLang="ar-AE" i="1"/>
                                    <m:t>𝐻</m:t>
                                  </m:r>
                                </m:e>
                                <m:sub>
                                  <m:r>
                                    <a:rPr lang="zh-CN" altLang="ar-AE" i="1"/>
                                    <m:t>𝑖</m:t>
                                  </m:r>
                                </m:sub>
                              </m:sSub>
                              <m:r>
                                <a:rPr lang="ar-AE" altLang="zh-CN"/>
                                <m:t>+</m:t>
                              </m:r>
                              <m:sSub>
                                <m:sSubPr>
                                  <m:ctrlPr>
                                    <a:rPr lang="ar-AE" altLang="zh-CN" i="1"/>
                                  </m:ctrlPr>
                                </m:sSubPr>
                                <m:e>
                                  <m:r>
                                    <a:rPr lang="zh-CN" altLang="ar-AE" i="1"/>
                                    <m:t>𝑏</m:t>
                                  </m:r>
                                </m:e>
                                <m:sub>
                                  <m:r>
                                    <a:rPr lang="ar-AE" altLang="zh-CN"/>
                                    <m:t>ℓ</m:t>
                                  </m:r>
                                </m:sub>
                              </m:sSub>
                            </m:e>
                          </m:d>
                          <m:r>
                            <a:rPr lang="ar-AE" altLang="zh-CN"/>
                            <m:t>, </m:t>
                          </m:r>
                          <m:sSub>
                            <m:sSubPr>
                              <m:ctrlPr>
                                <a:rPr lang="ar-AE" altLang="zh-CN" i="1"/>
                              </m:ctrlPr>
                            </m:sSubPr>
                            <m:e>
                              <m:r>
                                <a:rPr lang="zh-CN" altLang="ar-AE" i="1"/>
                                <m:t>𝑝</m:t>
                              </m:r>
                            </m:e>
                            <m:sub>
                              <m:r>
                                <a:rPr lang="zh-CN" altLang="ar-AE" i="1"/>
                                <m:t>𝑖</m:t>
                              </m:r>
                            </m:sub>
                          </m:sSub>
                          <m:r>
                            <a:rPr lang="ar-AE" altLang="zh-CN"/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CN" i="1"/>
                            <m:t>softmax</m:t>
                          </m:r>
                          <m:d>
                            <m:dPr>
                              <m:ctrlPr>
                                <a:rPr lang="ar-AE" altLang="zh-CN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CN" i="1"/>
                                  </m:ctrlPr>
                                </m:sSubPr>
                                <m:e>
                                  <m:r>
                                    <a:rPr lang="zh-CN" altLang="ar-AE" i="1"/>
                                    <m:t>𝑊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CN" i="1"/>
                                    <m:t>smax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altLang="zh-CN" i="1"/>
                                  </m:ctrlPr>
                                </m:sSubPr>
                                <m:e>
                                  <m:r>
                                    <a:rPr lang="ar-AE" altLang="zh-CN"/>
                                    <m:t>ℓ</m:t>
                                  </m:r>
                                </m:e>
                                <m:sub>
                                  <m:r>
                                    <a:rPr lang="zh-CN" altLang="ar-AE" i="1"/>
                                    <m:t>𝑖</m:t>
                                  </m:r>
                                </m:sub>
                              </m:sSub>
                              <m:r>
                                <a:rPr lang="ar-AE" altLang="zh-CN"/>
                                <m:t>+</m:t>
                              </m:r>
                              <m:sSub>
                                <m:sSubPr>
                                  <m:ctrlPr>
                                    <a:rPr lang="ar-AE" altLang="zh-CN" i="1"/>
                                  </m:ctrlPr>
                                </m:sSubPr>
                                <m:e>
                                  <m:r>
                                    <a:rPr lang="zh-CN" altLang="ar-AE" i="1"/>
                                    <m:t>𝑏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CN" i="1"/>
                                    <m:t>smax</m:t>
                                  </m:r>
                                </m:sub>
                              </m:sSub>
                            </m:e>
                          </m:d>
                        </m:e>
                        <m:e/>
                        <m:e>
                          <m:r>
                            <m:rPr>
                              <m:nor/>
                            </m:rPr>
                            <a:rPr lang="ar-AE" altLang="zh-CN" i="1"/>
                            <m:t>(</m:t>
                          </m:r>
                          <m:r>
                            <m:rPr>
                              <m:nor/>
                            </m:rPr>
                            <a:rPr lang="ar-AE" altLang="zh-CN" i="1"/>
                            <m:t>11</m:t>
                          </m:r>
                          <m:r>
                            <m:rPr>
                              <m:nor/>
                            </m:rPr>
                            <a:rPr lang="ar-AE" altLang="zh-CN" i="1"/>
                            <m:t>)</m:t>
                          </m:r>
                        </m:e>
                      </m:mr>
                    </m:m>
                  </m:oMath>
                </a14:m>
                <a:endParaRPr lang="ar-AE" altLang="zh-C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CN"/>
                            </m:ctrlPr>
                          </m:accPr>
                          <m:e>
                            <m:r>
                              <a:rPr lang="zh-CN" altLang="ar-AE" i="1"/>
                              <m:t>𝑦</m:t>
                            </m:r>
                          </m:e>
                        </m:acc>
                      </m:e>
                      <m:sub>
                        <m:r>
                          <a:rPr lang="zh-CN" altLang="ar-AE" i="1"/>
                          <m:t>𝑖</m:t>
                        </m:r>
                      </m:sub>
                    </m:sSub>
                    <m:r>
                      <a:rPr lang="ar-AE" altLang="zh-CN"/>
                      <m:t>=</m:t>
                    </m:r>
                    <m:func>
                      <m:funcPr>
                        <m:ctrlPr>
                          <a:rPr lang="ar-AE" altLang="zh-CN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/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altLang="zh-CN" i="1"/>
                            </m:ctrlPr>
                          </m:sSubPr>
                          <m:e>
                            <m:func>
                              <m:funcPr>
                                <m:ctrlPr>
                                  <a:rPr lang="ar-AE" altLang="zh-CN" i="1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/>
                                  <m:t>max</m:t>
                                </m:r>
                              </m:fName>
                              <m:e/>
                            </m:func>
                          </m:e>
                          <m:sub>
                            <m:r>
                              <a:rPr lang="zh-CN" altLang="ar-AE" i="1"/>
                              <m:t>𝑗</m:t>
                            </m:r>
                          </m:sub>
                        </m:sSub>
                      </m:e>
                    </m:func>
                    <m:sSub>
                      <m:sSubPr>
                        <m:ctrlPr>
                          <a:rPr lang="ar-AE" altLang="zh-CN" i="1"/>
                        </m:ctrlPr>
                      </m:sSubPr>
                      <m:e>
                        <m:r>
                          <a:rPr lang="zh-CN" altLang="ar-AE" i="1"/>
                          <m:t>𝑝</m:t>
                        </m:r>
                      </m:e>
                      <m:sub>
                        <m:r>
                          <a:rPr lang="zh-CN" altLang="ar-AE" i="1"/>
                          <m:t>𝑖𝑗</m:t>
                        </m:r>
                      </m:sub>
                    </m:sSub>
                  </m:oMath>
                </a14:m>
                <a:r>
                  <a:rPr lang="zh-CN" altLang="ar-AE" dirty="0"/>
                  <a:t>（</a:t>
                </a:r>
                <a:r>
                  <a:rPr lang="zh-CN" altLang="en-US" dirty="0"/>
                  <a:t>式</a:t>
                </a:r>
                <a:r>
                  <a:rPr lang="en-US" altLang="zh-CN" dirty="0"/>
                  <a:t>(12)</a:t>
                </a:r>
                <a:r>
                  <a:rPr lang="zh-CN" altLang="en-US" dirty="0"/>
                  <a:t>）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77228E-4951-0828-91E0-817C9DD98A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756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6C573B-F128-5F1C-D58C-EB75D9C7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拉普拉斯算子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627627-3A8C-B0DC-097F-175B676A8C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8704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给定一个图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zh-CN" altLang="en-US" dirty="0"/>
                  <a:t>：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邻接矩阵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ar-AE" dirty="0"/>
                  <a:t>，</a:t>
                </a:r>
                <a:r>
                  <a:rPr lang="zh-CN" altLang="en-US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表示节点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相连；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度矩阵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ar-AE" dirty="0"/>
                  <a:t>，</a:t>
                </a:r>
                <a:r>
                  <a:rPr lang="zh-CN" altLang="en-US" dirty="0"/>
                  <a:t>是对角矩阵，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ar-AE" dirty="0"/>
                  <a:t>（</a:t>
                </a:r>
                <a:r>
                  <a:rPr lang="zh-CN" altLang="en-US" dirty="0"/>
                  <a:t>节点度）。</a:t>
                </a:r>
              </a:p>
              <a:p>
                <a:pPr marL="0" indent="0">
                  <a:buNone/>
                </a:pPr>
                <a:r>
                  <a:rPr lang="zh-CN" altLang="en-US" b="1" dirty="0"/>
                  <a:t>图拉普拉斯算子</a:t>
                </a:r>
                <a:r>
                  <a:rPr lang="zh-CN" altLang="en-US" dirty="0"/>
                  <a:t> 定义为：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b="1" dirty="0"/>
                  <a:t>归一化版本</a:t>
                </a:r>
                <a:r>
                  <a:rPr lang="zh-CN" altLang="en-US" dirty="0"/>
                  <a:t>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𝑠𝑦𝑚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ar-A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zh-CN" altLang="ar-AE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ar-AE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627627-3A8C-B0DC-097F-175B676A8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8704"/>
                <a:ext cx="10515600" cy="4351338"/>
              </a:xfrm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4295A40A-46D9-3816-4A8D-A4B363B8C4A6}"/>
              </a:ext>
            </a:extLst>
          </p:cNvPr>
          <p:cNvGrpSpPr/>
          <p:nvPr/>
        </p:nvGrpSpPr>
        <p:grpSpPr>
          <a:xfrm>
            <a:off x="794304" y="5933304"/>
            <a:ext cx="1528560" cy="460080"/>
            <a:chOff x="794304" y="5933304"/>
            <a:chExt cx="1528560" cy="46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34ADDF90-750F-CB1A-B98C-B9231FA6AF00}"/>
                    </a:ext>
                  </a:extLst>
                </p14:cNvPr>
                <p14:cNvContentPartPr/>
                <p14:nvPr/>
              </p14:nvContentPartPr>
              <p14:xfrm>
                <a:off x="794304" y="5933304"/>
                <a:ext cx="257400" cy="43308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34ADDF90-750F-CB1A-B98C-B9231FA6AF0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6664" y="5915664"/>
                  <a:ext cx="2930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7642B87A-F3AA-D0F2-F456-B2356681E6CD}"/>
                    </a:ext>
                  </a:extLst>
                </p14:cNvPr>
                <p14:cNvContentPartPr/>
                <p14:nvPr/>
              </p14:nvContentPartPr>
              <p14:xfrm>
                <a:off x="977904" y="6135624"/>
                <a:ext cx="211680" cy="3492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7642B87A-F3AA-D0F2-F456-B2356681E6C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0264" y="6117624"/>
                  <a:ext cx="247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41859811-02D1-BD13-3056-4FB288F6D729}"/>
                    </a:ext>
                  </a:extLst>
                </p14:cNvPr>
                <p14:cNvContentPartPr/>
                <p14:nvPr/>
              </p14:nvContentPartPr>
              <p14:xfrm>
                <a:off x="1370304" y="6106824"/>
                <a:ext cx="302040" cy="23112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41859811-02D1-BD13-3056-4FB288F6D72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52304" y="6089184"/>
                  <a:ext cx="3376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8850EF6E-E6E9-1F6F-CA80-F15E9127AF16}"/>
                    </a:ext>
                  </a:extLst>
                </p14:cNvPr>
                <p14:cNvContentPartPr/>
                <p14:nvPr/>
              </p14:nvContentPartPr>
              <p14:xfrm>
                <a:off x="1829304" y="6098904"/>
                <a:ext cx="210240" cy="29448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8850EF6E-E6E9-1F6F-CA80-F15E9127AF1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11664" y="6081264"/>
                  <a:ext cx="2458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78281BF7-1F74-0EEA-7E3B-1C9EC207D539}"/>
                    </a:ext>
                  </a:extLst>
                </p14:cNvPr>
                <p14:cNvContentPartPr/>
                <p14:nvPr/>
              </p14:nvContentPartPr>
              <p14:xfrm>
                <a:off x="1993104" y="6098904"/>
                <a:ext cx="329760" cy="26640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78281BF7-1F74-0EEA-7E3B-1C9EC207D53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75104" y="6081264"/>
                  <a:ext cx="36540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35AE85C-DEC4-70B1-6E72-3CED25EB75ED}"/>
              </a:ext>
            </a:extLst>
          </p:cNvPr>
          <p:cNvGrpSpPr/>
          <p:nvPr/>
        </p:nvGrpSpPr>
        <p:grpSpPr>
          <a:xfrm>
            <a:off x="2614824" y="6226704"/>
            <a:ext cx="28080" cy="105480"/>
            <a:chOff x="2614824" y="6226704"/>
            <a:chExt cx="28080" cy="1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5A93E61E-0DAE-91F4-A86A-39738FB039FC}"/>
                    </a:ext>
                  </a:extLst>
                </p14:cNvPr>
                <p14:cNvContentPartPr/>
                <p14:nvPr/>
              </p14:nvContentPartPr>
              <p14:xfrm>
                <a:off x="2642544" y="6226704"/>
                <a:ext cx="360" cy="576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5A93E61E-0DAE-91F4-A86A-39738FB039F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24544" y="6209064"/>
                  <a:ext cx="360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29347D25-14F8-9E40-0600-A7622678CD70}"/>
                    </a:ext>
                  </a:extLst>
                </p14:cNvPr>
                <p14:cNvContentPartPr/>
                <p14:nvPr/>
              </p14:nvContentPartPr>
              <p14:xfrm>
                <a:off x="2614824" y="6300144"/>
                <a:ext cx="13680" cy="3204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29347D25-14F8-9E40-0600-A7622678CD7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97184" y="6282144"/>
                  <a:ext cx="4932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94E0687-BFDB-A304-BEF0-79477A04CAEE}"/>
              </a:ext>
            </a:extLst>
          </p:cNvPr>
          <p:cNvGrpSpPr/>
          <p:nvPr/>
        </p:nvGrpSpPr>
        <p:grpSpPr>
          <a:xfrm>
            <a:off x="3090024" y="5733144"/>
            <a:ext cx="1254960" cy="857880"/>
            <a:chOff x="3090024" y="5733144"/>
            <a:chExt cx="1254960" cy="85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D93099C0-5A2C-42DF-A3DD-FD732CE408E8}"/>
                    </a:ext>
                  </a:extLst>
                </p14:cNvPr>
                <p14:cNvContentPartPr/>
                <p14:nvPr/>
              </p14:nvContentPartPr>
              <p14:xfrm>
                <a:off x="3090024" y="5925024"/>
                <a:ext cx="55800" cy="66600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D93099C0-5A2C-42DF-A3DD-FD732CE408E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72024" y="5907384"/>
                  <a:ext cx="9144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7F468AEE-6D9C-51EC-0A64-BFA6833A1FB2}"/>
                    </a:ext>
                  </a:extLst>
                </p14:cNvPr>
                <p14:cNvContentPartPr/>
                <p14:nvPr/>
              </p14:nvContentPartPr>
              <p14:xfrm>
                <a:off x="3163824" y="6264504"/>
                <a:ext cx="283680" cy="13644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7F468AEE-6D9C-51EC-0A64-BFA6833A1F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45824" y="6246864"/>
                  <a:ext cx="3193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A6E21ACA-5BCC-B567-073C-CC4997E36F39}"/>
                    </a:ext>
                  </a:extLst>
                </p14:cNvPr>
                <p14:cNvContentPartPr/>
                <p14:nvPr/>
              </p14:nvContentPartPr>
              <p14:xfrm>
                <a:off x="3510504" y="6052824"/>
                <a:ext cx="10080" cy="50256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A6E21ACA-5BCC-B567-073C-CC4997E36F3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92864" y="6035184"/>
                  <a:ext cx="4572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D38C7D78-5902-6CBC-BA3A-26B09F969458}"/>
                    </a:ext>
                  </a:extLst>
                </p14:cNvPr>
                <p14:cNvContentPartPr/>
                <p14:nvPr/>
              </p14:nvContentPartPr>
              <p14:xfrm>
                <a:off x="3757104" y="5815584"/>
                <a:ext cx="120240" cy="28044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D38C7D78-5902-6CBC-BA3A-26B09F96945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39464" y="5797584"/>
                  <a:ext cx="1558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37755B8C-B7AD-099F-2B62-4097FBB8B020}"/>
                    </a:ext>
                  </a:extLst>
                </p14:cNvPr>
                <p14:cNvContentPartPr/>
                <p14:nvPr/>
              </p14:nvContentPartPr>
              <p14:xfrm>
                <a:off x="3913704" y="5934384"/>
                <a:ext cx="52920" cy="36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37755B8C-B7AD-099F-2B62-4097FBB8B02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895704" y="5916744"/>
                  <a:ext cx="88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FE3A60B6-A76C-ABC8-02D5-1F61A5B9154B}"/>
                    </a:ext>
                  </a:extLst>
                </p14:cNvPr>
                <p14:cNvContentPartPr/>
                <p14:nvPr/>
              </p14:nvContentPartPr>
              <p14:xfrm>
                <a:off x="3931704" y="5824584"/>
                <a:ext cx="19440" cy="25524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FE3A60B6-A76C-ABC8-02D5-1F61A5B9154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13704" y="5806584"/>
                  <a:ext cx="550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0C9B21BD-7BC6-9D8E-EE84-A70D0CAD15A6}"/>
                    </a:ext>
                  </a:extLst>
                </p14:cNvPr>
                <p14:cNvContentPartPr/>
                <p14:nvPr/>
              </p14:nvContentPartPr>
              <p14:xfrm>
                <a:off x="3950064" y="5943384"/>
                <a:ext cx="90720" cy="36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0C9B21BD-7BC6-9D8E-EE84-A70D0CAD15A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32064" y="5925744"/>
                  <a:ext cx="126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7F431D32-E78B-1FCB-30D7-28C90BA0E36A}"/>
                    </a:ext>
                  </a:extLst>
                </p14:cNvPr>
                <p14:cNvContentPartPr/>
                <p14:nvPr/>
              </p14:nvContentPartPr>
              <p14:xfrm>
                <a:off x="4160304" y="5824584"/>
                <a:ext cx="360" cy="18216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7F431D32-E78B-1FCB-30D7-28C90BA0E36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42664" y="5806584"/>
                  <a:ext cx="360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A957D783-4C9C-4FF4-2EBC-6BC531439EBE}"/>
                    </a:ext>
                  </a:extLst>
                </p14:cNvPr>
                <p14:cNvContentPartPr/>
                <p14:nvPr/>
              </p14:nvContentPartPr>
              <p14:xfrm>
                <a:off x="3545424" y="5733144"/>
                <a:ext cx="119880" cy="32112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A957D783-4C9C-4FF4-2EBC-6BC531439EB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27784" y="5715144"/>
                  <a:ext cx="1555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5064B350-1872-AF0A-89A3-8E22467C34B5}"/>
                    </a:ext>
                  </a:extLst>
                </p14:cNvPr>
                <p14:cNvContentPartPr/>
                <p14:nvPr/>
              </p14:nvContentPartPr>
              <p14:xfrm>
                <a:off x="4269744" y="5815584"/>
                <a:ext cx="75240" cy="28548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5064B350-1872-AF0A-89A3-8E22467C34B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252104" y="5797584"/>
                  <a:ext cx="110880" cy="32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34E0084B-8DC0-C64A-ED4C-8DEB782C1E41}"/>
                  </a:ext>
                </a:extLst>
              </p14:cNvPr>
              <p14:cNvContentPartPr/>
              <p14:nvPr/>
            </p14:nvContentPartPr>
            <p14:xfrm>
              <a:off x="4224384" y="6318144"/>
              <a:ext cx="255240" cy="11520"/>
            </p14:xfrm>
          </p:contentPart>
        </mc:Choice>
        <mc:Fallback xmlns=""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34E0084B-8DC0-C64A-ED4C-8DEB782C1E4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206384" y="6300504"/>
                <a:ext cx="2908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27805A1F-C551-1CA3-CD4D-7F2EA5D3F0B1}"/>
                  </a:ext>
                </a:extLst>
              </p14:cNvPr>
              <p14:cNvContentPartPr/>
              <p14:nvPr/>
            </p14:nvContentPartPr>
            <p14:xfrm>
              <a:off x="4160304" y="6519384"/>
              <a:ext cx="300600" cy="19080"/>
            </p14:xfrm>
          </p:contentPart>
        </mc:Choice>
        <mc:Fallback xmlns=""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27805A1F-C551-1CA3-CD4D-7F2EA5D3F0B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142664" y="6501744"/>
                <a:ext cx="33624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组合 44">
            <a:extLst>
              <a:ext uri="{FF2B5EF4-FFF2-40B4-BE49-F238E27FC236}">
                <a16:creationId xmlns:a16="http://schemas.microsoft.com/office/drawing/2014/main" id="{F3FAFC3A-FBD5-5283-A240-84055F41F404}"/>
              </a:ext>
            </a:extLst>
          </p:cNvPr>
          <p:cNvGrpSpPr/>
          <p:nvPr/>
        </p:nvGrpSpPr>
        <p:grpSpPr>
          <a:xfrm>
            <a:off x="4816944" y="6089544"/>
            <a:ext cx="568800" cy="472680"/>
            <a:chOff x="4816944" y="6089544"/>
            <a:chExt cx="56880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51F718C2-918B-C708-3F66-99598A0E7171}"/>
                    </a:ext>
                  </a:extLst>
                </p14:cNvPr>
                <p14:cNvContentPartPr/>
                <p14:nvPr/>
              </p14:nvContentPartPr>
              <p14:xfrm>
                <a:off x="4816944" y="6230304"/>
                <a:ext cx="312840" cy="33192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51F718C2-918B-C708-3F66-99598A0E717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99304" y="6212664"/>
                  <a:ext cx="3484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342D97CE-D853-8C59-CAA3-36DBACE825B0}"/>
                    </a:ext>
                  </a:extLst>
                </p14:cNvPr>
                <p14:cNvContentPartPr/>
                <p14:nvPr/>
              </p14:nvContentPartPr>
              <p14:xfrm>
                <a:off x="5229144" y="6089544"/>
                <a:ext cx="156600" cy="44748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342D97CE-D853-8C59-CAA3-36DBACE825B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211504" y="6071904"/>
                  <a:ext cx="192240" cy="48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5E0459CF-91E0-54E3-0D5F-E91C5428CE42}"/>
                  </a:ext>
                </a:extLst>
              </p14:cNvPr>
              <p14:cNvContentPartPr/>
              <p14:nvPr/>
            </p14:nvContentPartPr>
            <p14:xfrm>
              <a:off x="5696424" y="6135624"/>
              <a:ext cx="37080" cy="356040"/>
            </p14:xfrm>
          </p:contentPart>
        </mc:Choice>
        <mc:Fallback xmlns=""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5E0459CF-91E0-54E3-0D5F-E91C5428CE4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678784" y="6117624"/>
                <a:ext cx="7272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A2408118-EFD5-6F0C-D55C-16F32923BE9F}"/>
                  </a:ext>
                </a:extLst>
              </p14:cNvPr>
              <p14:cNvContentPartPr/>
              <p14:nvPr/>
            </p14:nvContentPartPr>
            <p14:xfrm>
              <a:off x="5720184" y="6162264"/>
              <a:ext cx="288000" cy="262440"/>
            </p14:xfrm>
          </p:contentPart>
        </mc:Choice>
        <mc:Fallback xmlns=""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A2408118-EFD5-6F0C-D55C-16F32923BE9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702184" y="6144624"/>
                <a:ext cx="3236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3E9DF8BE-CF70-7F9C-D44F-E779597FB5E9}"/>
                  </a:ext>
                </a:extLst>
              </p14:cNvPr>
              <p14:cNvContentPartPr/>
              <p14:nvPr/>
            </p14:nvContentPartPr>
            <p14:xfrm>
              <a:off x="5687064" y="6034464"/>
              <a:ext cx="200880" cy="10080"/>
            </p14:xfrm>
          </p:contentPart>
        </mc:Choice>
        <mc:Fallback xmlns=""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3E9DF8BE-CF70-7F9C-D44F-E779597FB5E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669424" y="6016464"/>
                <a:ext cx="23652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组合 81">
            <a:extLst>
              <a:ext uri="{FF2B5EF4-FFF2-40B4-BE49-F238E27FC236}">
                <a16:creationId xmlns:a16="http://schemas.microsoft.com/office/drawing/2014/main" id="{87863502-41D5-63E4-D21F-A268F6C8A3FF}"/>
              </a:ext>
            </a:extLst>
          </p:cNvPr>
          <p:cNvGrpSpPr/>
          <p:nvPr/>
        </p:nvGrpSpPr>
        <p:grpSpPr>
          <a:xfrm>
            <a:off x="6135624" y="5833584"/>
            <a:ext cx="1643040" cy="683280"/>
            <a:chOff x="6135624" y="5833584"/>
            <a:chExt cx="1643040" cy="68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A3BE9E86-2DF6-1B95-A937-DB607A85E5C7}"/>
                    </a:ext>
                  </a:extLst>
                </p14:cNvPr>
                <p14:cNvContentPartPr/>
                <p14:nvPr/>
              </p14:nvContentPartPr>
              <p14:xfrm>
                <a:off x="6135624" y="6100704"/>
                <a:ext cx="145800" cy="7560"/>
              </p14:xfrm>
            </p:contentPart>
          </mc:Choice>
          <mc:Fallback xmlns=""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A3BE9E86-2DF6-1B95-A937-DB607A85E5C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17624" y="6083064"/>
                  <a:ext cx="1814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DB23474D-A1F5-E77B-DEF3-074563712F10}"/>
                    </a:ext>
                  </a:extLst>
                </p14:cNvPr>
                <p14:cNvContentPartPr/>
                <p14:nvPr/>
              </p14:nvContentPartPr>
              <p14:xfrm>
                <a:off x="6384384" y="6106104"/>
                <a:ext cx="149040" cy="95400"/>
              </p14:xfrm>
            </p:contentPart>
          </mc:Choice>
          <mc:Fallback xmlns=""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DB23474D-A1F5-E77B-DEF3-074563712F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366384" y="6088464"/>
                  <a:ext cx="184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56EA1BEB-8DEB-FF9B-751E-D568FA14CEA6}"/>
                    </a:ext>
                  </a:extLst>
                </p14:cNvPr>
                <p14:cNvContentPartPr/>
                <p14:nvPr/>
              </p14:nvContentPartPr>
              <p14:xfrm>
                <a:off x="6382224" y="5994864"/>
                <a:ext cx="206280" cy="3960"/>
              </p14:xfrm>
            </p:contentPart>
          </mc:Choice>
          <mc:Fallback xmlns=""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56EA1BEB-8DEB-FF9B-751E-D568FA14CEA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364584" y="5976864"/>
                  <a:ext cx="241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BFA7F750-6857-C18C-C321-526489393188}"/>
                    </a:ext>
                  </a:extLst>
                </p14:cNvPr>
                <p14:cNvContentPartPr/>
                <p14:nvPr/>
              </p14:nvContentPartPr>
              <p14:xfrm>
                <a:off x="6528744" y="5833584"/>
                <a:ext cx="360" cy="81720"/>
              </p14:xfrm>
            </p:contentPart>
          </mc:Choice>
          <mc:Fallback xmlns=""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BFA7F750-6857-C18C-C321-52648939318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511104" y="5815584"/>
                  <a:ext cx="360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7BAC5AC6-2A7D-0599-47BB-EB8384FF6CE0}"/>
                    </a:ext>
                  </a:extLst>
                </p14:cNvPr>
                <p14:cNvContentPartPr/>
                <p14:nvPr/>
              </p14:nvContentPartPr>
              <p14:xfrm>
                <a:off x="6812424" y="6107904"/>
                <a:ext cx="110160" cy="329760"/>
              </p14:xfrm>
            </p:contentPart>
          </mc:Choice>
          <mc:Fallback xmlns=""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7BAC5AC6-2A7D-0599-47BB-EB8384FF6CE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794784" y="6090264"/>
                  <a:ext cx="1458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5D0B9833-72D5-72E9-FAD4-8144B4485DB7}"/>
                    </a:ext>
                  </a:extLst>
                </p14:cNvPr>
                <p14:cNvContentPartPr/>
                <p14:nvPr/>
              </p14:nvContentPartPr>
              <p14:xfrm>
                <a:off x="6894504" y="6190344"/>
                <a:ext cx="195480" cy="317520"/>
              </p14:xfrm>
            </p:contentPart>
          </mc:Choice>
          <mc:Fallback xmlns=""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5D0B9833-72D5-72E9-FAD4-8144B4485DB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76504" y="6172344"/>
                  <a:ext cx="2311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9BBADB51-C845-10C1-3377-76B8D75A5CE9}"/>
                    </a:ext>
                  </a:extLst>
                </p14:cNvPr>
                <p14:cNvContentPartPr/>
                <p14:nvPr/>
              </p14:nvContentPartPr>
              <p14:xfrm>
                <a:off x="6903504" y="6372864"/>
                <a:ext cx="72360" cy="37080"/>
              </p14:xfrm>
            </p:contentPart>
          </mc:Choice>
          <mc:Fallback xmlns=""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9BBADB51-C845-10C1-3377-76B8D75A5CE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885504" y="6355224"/>
                  <a:ext cx="1080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AF83053C-B0CA-6E0D-8DDF-17DF1B7B49B2}"/>
                    </a:ext>
                  </a:extLst>
                </p14:cNvPr>
                <p14:cNvContentPartPr/>
                <p14:nvPr/>
              </p14:nvContentPartPr>
              <p14:xfrm>
                <a:off x="6738984" y="5989104"/>
                <a:ext cx="237240" cy="19080"/>
              </p14:xfrm>
            </p:contentPart>
          </mc:Choice>
          <mc:Fallback xmlns=""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AF83053C-B0CA-6E0D-8DDF-17DF1B7B49B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20984" y="5971104"/>
                  <a:ext cx="272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3AF9B30A-B6ED-6B15-6910-1E70235A2B3F}"/>
                    </a:ext>
                  </a:extLst>
                </p14:cNvPr>
                <p14:cNvContentPartPr/>
                <p14:nvPr/>
              </p14:nvContentPartPr>
              <p14:xfrm>
                <a:off x="7278264" y="6171984"/>
                <a:ext cx="73440" cy="344880"/>
              </p14:xfrm>
            </p:contentPart>
          </mc:Choice>
          <mc:Fallback xmlns=""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3AF9B30A-B6ED-6B15-6910-1E70235A2B3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260624" y="6153984"/>
                  <a:ext cx="1090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86FD947C-3D91-B165-FA32-E80B72DEB534}"/>
                    </a:ext>
                  </a:extLst>
                </p14:cNvPr>
                <p14:cNvContentPartPr/>
                <p14:nvPr/>
              </p14:nvContentPartPr>
              <p14:xfrm>
                <a:off x="7259904" y="6189624"/>
                <a:ext cx="212400" cy="239040"/>
              </p14:xfrm>
            </p:contentPart>
          </mc:Choice>
          <mc:Fallback xmlns=""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86FD947C-3D91-B165-FA32-E80B72DEB53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42264" y="6171624"/>
                  <a:ext cx="248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E1C9C943-282A-4F38-0B89-937AD5A3BCB8}"/>
                    </a:ext>
                  </a:extLst>
                </p14:cNvPr>
                <p14:cNvContentPartPr/>
                <p14:nvPr/>
              </p14:nvContentPartPr>
              <p14:xfrm>
                <a:off x="7598304" y="6189624"/>
                <a:ext cx="180360" cy="102240"/>
              </p14:xfrm>
            </p:contentPart>
          </mc:Choice>
          <mc:Fallback xmlns=""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E1C9C943-282A-4F38-0B89-937AD5A3BCB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580664" y="6171624"/>
                  <a:ext cx="2160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0A9D1FFE-DB37-A4C7-818F-1F6B26218B7C}"/>
                    </a:ext>
                  </a:extLst>
                </p14:cNvPr>
                <p14:cNvContentPartPr/>
                <p14:nvPr/>
              </p14:nvContentPartPr>
              <p14:xfrm>
                <a:off x="7534584" y="6095304"/>
                <a:ext cx="233640" cy="22320"/>
              </p14:xfrm>
            </p:contentPart>
          </mc:Choice>
          <mc:Fallback xmlns=""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0A9D1FFE-DB37-A4C7-818F-1F6B26218B7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516584" y="6077304"/>
                  <a:ext cx="269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CD4A5D74-8AA2-F6F4-A13D-D30CA1113BF9}"/>
                    </a:ext>
                  </a:extLst>
                </p14:cNvPr>
                <p14:cNvContentPartPr/>
                <p14:nvPr/>
              </p14:nvContentPartPr>
              <p14:xfrm>
                <a:off x="7626024" y="5879664"/>
                <a:ext cx="9720" cy="90360"/>
              </p14:xfrm>
            </p:contentPart>
          </mc:Choice>
          <mc:Fallback xmlns=""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CD4A5D74-8AA2-F6F4-A13D-D30CA1113BF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608384" y="5861664"/>
                  <a:ext cx="4536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4C0C9F5E-8A63-EA3F-C6B4-7F20558B6C8C}"/>
              </a:ext>
            </a:extLst>
          </p:cNvPr>
          <p:cNvGrpSpPr/>
          <p:nvPr/>
        </p:nvGrpSpPr>
        <p:grpSpPr>
          <a:xfrm>
            <a:off x="8184024" y="5797224"/>
            <a:ext cx="1794240" cy="992880"/>
            <a:chOff x="8184024" y="5797224"/>
            <a:chExt cx="1794240" cy="9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1D2F1BF7-D18B-E984-A567-144ED213BBFB}"/>
                    </a:ext>
                  </a:extLst>
                </p14:cNvPr>
                <p14:cNvContentPartPr/>
                <p14:nvPr/>
              </p14:nvContentPartPr>
              <p14:xfrm>
                <a:off x="8184024" y="6089544"/>
                <a:ext cx="360" cy="347040"/>
              </p14:xfrm>
            </p:contentPart>
          </mc:Choice>
          <mc:Fallback xmlns=""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1D2F1BF7-D18B-E984-A567-144ED213BBF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166024" y="6071904"/>
                  <a:ext cx="360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AB6BA2B5-07D0-FD1C-EEC4-2B4F96AA566D}"/>
                    </a:ext>
                  </a:extLst>
                </p14:cNvPr>
                <p14:cNvContentPartPr/>
                <p14:nvPr/>
              </p14:nvContentPartPr>
              <p14:xfrm>
                <a:off x="8201664" y="6210864"/>
                <a:ext cx="178200" cy="71280"/>
              </p14:xfrm>
            </p:contentPart>
          </mc:Choice>
          <mc:Fallback xmlns=""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AB6BA2B5-07D0-FD1C-EEC4-2B4F96AA566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84024" y="6192864"/>
                  <a:ext cx="213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E5E73598-B1B1-2B8E-FC70-10B966D1B8F6}"/>
                    </a:ext>
                  </a:extLst>
                </p14:cNvPr>
                <p14:cNvContentPartPr/>
                <p14:nvPr/>
              </p14:nvContentPartPr>
              <p14:xfrm>
                <a:off x="8420904" y="6080544"/>
                <a:ext cx="10800" cy="337680"/>
              </p14:xfrm>
            </p:contentPart>
          </mc:Choice>
          <mc:Fallback xmlns=""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E5E73598-B1B1-2B8E-FC70-10B966D1B8F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03264" y="6062904"/>
                  <a:ext cx="464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544CBAFD-0485-21C6-F3DD-0A2F9332335B}"/>
                    </a:ext>
                  </a:extLst>
                </p14:cNvPr>
                <p14:cNvContentPartPr/>
                <p14:nvPr/>
              </p14:nvContentPartPr>
              <p14:xfrm>
                <a:off x="8702784" y="5797224"/>
                <a:ext cx="83880" cy="293400"/>
              </p14:xfrm>
            </p:contentPart>
          </mc:Choice>
          <mc:Fallback xmlns=""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544CBAFD-0485-21C6-F3DD-0A2F9332335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85144" y="5779584"/>
                  <a:ext cx="1195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A5EED69C-0E34-863D-EFB0-16FE921130BF}"/>
                    </a:ext>
                  </a:extLst>
                </p14:cNvPr>
                <p14:cNvContentPartPr/>
                <p14:nvPr/>
              </p14:nvContentPartPr>
              <p14:xfrm>
                <a:off x="8585064" y="5842944"/>
                <a:ext cx="44280" cy="194400"/>
              </p14:xfrm>
            </p:contentPart>
          </mc:Choice>
          <mc:Fallback xmlns=""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A5EED69C-0E34-863D-EFB0-16FE921130B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567424" y="5824944"/>
                  <a:ext cx="79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075C50BF-2C0D-BB4D-93D5-9783E2C2C34D}"/>
                    </a:ext>
                  </a:extLst>
                </p14:cNvPr>
                <p14:cNvContentPartPr/>
                <p14:nvPr/>
              </p14:nvContentPartPr>
              <p14:xfrm>
                <a:off x="8924544" y="5870304"/>
                <a:ext cx="37080" cy="153000"/>
              </p14:xfrm>
            </p:contentPart>
          </mc:Choice>
          <mc:Fallback xmlns=""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075C50BF-2C0D-BB4D-93D5-9783E2C2C34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906544" y="5852304"/>
                  <a:ext cx="727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B2D74292-C4EC-843F-C34B-2CCDA5784FCB}"/>
                    </a:ext>
                  </a:extLst>
                </p14:cNvPr>
                <p14:cNvContentPartPr/>
                <p14:nvPr/>
              </p14:nvContentPartPr>
              <p14:xfrm>
                <a:off x="8942904" y="6208344"/>
                <a:ext cx="401400" cy="245880"/>
              </p14:xfrm>
            </p:contentPart>
          </mc:Choice>
          <mc:Fallback xmlns=""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B2D74292-C4EC-843F-C34B-2CCDA5784FC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924904" y="6190704"/>
                  <a:ext cx="4370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25BA3610-54B4-FAE3-3886-C4E9182B3792}"/>
                    </a:ext>
                  </a:extLst>
                </p14:cNvPr>
                <p14:cNvContentPartPr/>
                <p14:nvPr/>
              </p14:nvContentPartPr>
              <p14:xfrm>
                <a:off x="9573624" y="5952384"/>
                <a:ext cx="79920" cy="218880"/>
              </p14:xfrm>
            </p:contentPart>
          </mc:Choice>
          <mc:Fallback xmlns=""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25BA3610-54B4-FAE3-3886-C4E9182B379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555624" y="5934744"/>
                  <a:ext cx="115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55956D63-E6CF-1601-8F8E-14BC7F32C6BE}"/>
                    </a:ext>
                  </a:extLst>
                </p14:cNvPr>
                <p14:cNvContentPartPr/>
                <p14:nvPr/>
              </p14:nvContentPartPr>
              <p14:xfrm>
                <a:off x="9472104" y="5970744"/>
                <a:ext cx="22680" cy="191880"/>
              </p14:xfrm>
            </p:contentPart>
          </mc:Choice>
          <mc:Fallback xmlns=""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55956D63-E6CF-1601-8F8E-14BC7F32C6B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454464" y="5952744"/>
                  <a:ext cx="58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6A299C46-02BF-0591-8B6A-777CEC7C0CB6}"/>
                    </a:ext>
                  </a:extLst>
                </p14:cNvPr>
                <p14:cNvContentPartPr/>
                <p14:nvPr/>
              </p14:nvContentPartPr>
              <p14:xfrm>
                <a:off x="9701784" y="5980104"/>
                <a:ext cx="52200" cy="86040"/>
              </p14:xfrm>
            </p:contentPart>
          </mc:Choice>
          <mc:Fallback xmlns=""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6A299C46-02BF-0591-8B6A-777CEC7C0CB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683784" y="5962104"/>
                  <a:ext cx="878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84387D02-571D-458D-9C12-2ACEEEE53301}"/>
                    </a:ext>
                  </a:extLst>
                </p14:cNvPr>
                <p14:cNvContentPartPr/>
                <p14:nvPr/>
              </p14:nvContentPartPr>
              <p14:xfrm>
                <a:off x="9838584" y="5943384"/>
                <a:ext cx="139680" cy="846720"/>
              </p14:xfrm>
            </p:contentPart>
          </mc:Choice>
          <mc:Fallback xmlns=""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84387D02-571D-458D-9C12-2ACEEEE5330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820944" y="5925744"/>
                  <a:ext cx="175320" cy="882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6" name="文本框 95">
            <a:extLst>
              <a:ext uri="{FF2B5EF4-FFF2-40B4-BE49-F238E27FC236}">
                <a16:creationId xmlns:a16="http://schemas.microsoft.com/office/drawing/2014/main" id="{247DD11E-5130-98F4-DA3A-DAF63B66E3C1}"/>
              </a:ext>
            </a:extLst>
          </p:cNvPr>
          <p:cNvSpPr txBox="1"/>
          <p:nvPr/>
        </p:nvSpPr>
        <p:spPr>
          <a:xfrm>
            <a:off x="10872216" y="53858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linkClick r:id="rId99" action="ppaction://hlinksldjump"/>
              </a:rPr>
              <a:t>back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6645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2C972-F0D1-26CF-3076-426CA56F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bipartite rating networks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EE7D7-0FAC-5D4B-72A1-CF7CB81F7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600"/>
            </a:pPr>
            <a:r>
              <a:rPr lang="zh-CN" altLang="en-US" dirty="0"/>
              <a:t>定义：二部图将节点划分为两个不相交子集 </a:t>
            </a:r>
            <a:r>
              <a:rPr lang="en-US" altLang="zh-CN" dirty="0"/>
              <a:t>U</a:t>
            </a:r>
            <a:r>
              <a:rPr lang="zh-CN" altLang="en-US" dirty="0"/>
              <a:t>（用户）与 </a:t>
            </a:r>
            <a:r>
              <a:rPr lang="en-US" altLang="zh-CN" dirty="0"/>
              <a:t>V</a:t>
            </a:r>
            <a:r>
              <a:rPr lang="zh-CN" altLang="en-US" dirty="0"/>
              <a:t>（物品），边仅连接 </a:t>
            </a:r>
            <a:r>
              <a:rPr lang="en-US" altLang="zh-CN" dirty="0"/>
              <a:t>U </a:t>
            </a:r>
            <a:r>
              <a:rPr lang="zh-CN" altLang="en-US" dirty="0"/>
              <a:t>与 </a:t>
            </a:r>
            <a:r>
              <a:rPr lang="en-US" altLang="zh-CN" dirty="0"/>
              <a:t>V</a:t>
            </a:r>
            <a:r>
              <a:rPr lang="zh-CN" altLang="en-US" dirty="0"/>
              <a:t>；评分网络中边表示交互（评分</a:t>
            </a:r>
            <a:r>
              <a:rPr lang="en-US" altLang="zh-CN" dirty="0"/>
              <a:t>/</a:t>
            </a:r>
            <a:r>
              <a:rPr lang="zh-CN" altLang="en-US" dirty="0"/>
              <a:t>点击</a:t>
            </a:r>
            <a:r>
              <a:rPr lang="en-US" altLang="zh-CN" dirty="0"/>
              <a:t>/</a:t>
            </a:r>
            <a:r>
              <a:rPr lang="zh-CN" altLang="en-US" dirty="0"/>
              <a:t>购买</a:t>
            </a:r>
            <a:r>
              <a:rPr lang="en-US" altLang="zh-CN" dirty="0"/>
              <a:t>/</a:t>
            </a:r>
            <a:r>
              <a:rPr lang="zh-CN" altLang="en-US" dirty="0"/>
              <a:t>观看），权重可为评分值或时间戳。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04B97D-FE0F-10BA-E6CB-8C93FED2F5CA}"/>
              </a:ext>
            </a:extLst>
          </p:cNvPr>
          <p:cNvSpPr txBox="1"/>
          <p:nvPr/>
        </p:nvSpPr>
        <p:spPr>
          <a:xfrm>
            <a:off x="838200" y="2349556"/>
            <a:ext cx="609447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lang="zh-CN" altLang="en-US" dirty="0"/>
              <a:t>组成：</a:t>
            </a:r>
          </a:p>
          <a:p>
            <a:pPr lvl="1">
              <a:defRPr sz="1600"/>
            </a:pPr>
            <a:r>
              <a:rPr lang="en-US" altLang="zh-CN" dirty="0"/>
              <a:t>U</a:t>
            </a:r>
            <a:r>
              <a:rPr lang="zh-CN" altLang="en-US" dirty="0"/>
              <a:t>：用户（</a:t>
            </a:r>
            <a:r>
              <a:rPr lang="en-US" altLang="zh-CN" dirty="0"/>
              <a:t>Users</a:t>
            </a:r>
            <a:r>
              <a:rPr lang="zh-CN" altLang="en-US" dirty="0"/>
              <a:t>）</a:t>
            </a:r>
          </a:p>
          <a:p>
            <a:pPr lvl="1">
              <a:defRPr sz="1600"/>
            </a:pPr>
            <a:r>
              <a:rPr lang="en-US" altLang="zh-CN" dirty="0"/>
              <a:t>V</a:t>
            </a:r>
            <a:r>
              <a:rPr lang="zh-CN" altLang="en-US" dirty="0"/>
              <a:t>：物品（</a:t>
            </a:r>
            <a:r>
              <a:rPr lang="en-US" altLang="zh-CN" dirty="0"/>
              <a:t>Items</a:t>
            </a:r>
            <a:r>
              <a:rPr lang="zh-CN" altLang="en-US" dirty="0"/>
              <a:t>）</a:t>
            </a:r>
          </a:p>
          <a:p>
            <a:pPr lvl="1">
              <a:defRPr sz="1600"/>
            </a:pPr>
            <a:r>
              <a:rPr lang="zh-CN" altLang="en-US" dirty="0"/>
              <a:t>边：交互行为（评分</a:t>
            </a:r>
            <a:r>
              <a:rPr lang="en-US" altLang="zh-CN" dirty="0"/>
              <a:t>/</a:t>
            </a:r>
            <a:r>
              <a:rPr lang="zh-CN" altLang="en-US" dirty="0"/>
              <a:t>点击</a:t>
            </a:r>
            <a:r>
              <a:rPr lang="en-US" altLang="zh-CN" dirty="0"/>
              <a:t>/</a:t>
            </a:r>
            <a:r>
              <a:rPr lang="zh-CN" altLang="en-US" dirty="0"/>
              <a:t>购买</a:t>
            </a:r>
            <a:r>
              <a:rPr lang="en-US" altLang="zh-CN" dirty="0"/>
              <a:t>/</a:t>
            </a:r>
            <a:r>
              <a:rPr lang="zh-CN" altLang="en-US" dirty="0"/>
              <a:t>观看）</a:t>
            </a:r>
          </a:p>
          <a:p>
            <a:pPr lvl="1">
              <a:defRPr sz="1600"/>
            </a:pPr>
            <a:r>
              <a:rPr lang="zh-CN" altLang="en-US" dirty="0"/>
              <a:t>权重：评分值（如</a:t>
            </a:r>
            <a:r>
              <a:rPr lang="en-US" altLang="zh-CN" dirty="0"/>
              <a:t>1–5</a:t>
            </a:r>
            <a:r>
              <a:rPr lang="zh-CN" altLang="en-US" dirty="0"/>
              <a:t>星）、时间戳等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36C92-FA33-C1E1-28F9-98BA1621715D}"/>
              </a:ext>
            </a:extLst>
          </p:cNvPr>
          <p:cNvSpPr txBox="1"/>
          <p:nvPr/>
        </p:nvSpPr>
        <p:spPr>
          <a:xfrm>
            <a:off x="838200" y="4001294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/>
            </a:pPr>
            <a:r>
              <a:t>常用数据集：</a:t>
            </a:r>
          </a:p>
          <a:p>
            <a:pPr lvl="1">
              <a:defRPr sz="1600"/>
            </a:pPr>
            <a:r>
              <a:t>• MovieLens（用户–电影评分）</a:t>
            </a:r>
          </a:p>
          <a:p>
            <a:pPr lvl="1">
              <a:defRPr sz="1600"/>
            </a:pPr>
            <a:r>
              <a:t>• Amazon Reviews（用户–商品评分）</a:t>
            </a:r>
          </a:p>
          <a:p>
            <a:pPr lvl="1">
              <a:defRPr sz="1600"/>
            </a:pPr>
            <a:r>
              <a:t>• Yelp（用户–商户评论/评分）</a:t>
            </a: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6BF1F101-94EA-7823-4113-9145D7924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376" y="2512830"/>
            <a:ext cx="3840480" cy="265176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0A0EBA4-2EC4-8698-B320-FB25C72FB3B9}"/>
              </a:ext>
            </a:extLst>
          </p:cNvPr>
          <p:cNvSpPr txBox="1"/>
          <p:nvPr/>
        </p:nvSpPr>
        <p:spPr>
          <a:xfrm>
            <a:off x="10399014" y="566712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 action="ppaction://hlinksldjump"/>
              </a:rPr>
              <a:t>back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1923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1473</Words>
  <Application>Microsoft Office PowerPoint</Application>
  <PresentationFormat>宽屏</PresentationFormat>
  <Paragraphs>167</Paragraphs>
  <Slides>23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1.GAT (GRAPH ATTENTION NETWORKS)</vt:lpstr>
      <vt:lpstr>GAT 的改进点</vt:lpstr>
      <vt:lpstr>GAT 层的计算流程1</vt:lpstr>
      <vt:lpstr>GAT 层的计算流程2</vt:lpstr>
      <vt:lpstr>PowerPoint 演示文稿</vt:lpstr>
      <vt:lpstr>注意力系数归一化</vt:lpstr>
      <vt:lpstr>多头注意力聚合</vt:lpstr>
      <vt:lpstr>2.DySAT（Dynamic Self-Attention Network）</vt:lpstr>
      <vt:lpstr>DySAT 对比对象 &amp; 解决了什么问题</vt:lpstr>
      <vt:lpstr>DySAT输入 / 输出</vt:lpstr>
      <vt:lpstr>Structural Self-Attention</vt:lpstr>
      <vt:lpstr>Temporal Self-Attention</vt:lpstr>
      <vt:lpstr>Graph-context prediction（Skip-gram 风格 + 负采样）</vt:lpstr>
      <vt:lpstr>3.DGODE（Dynamic Graph Neural ODE Network for MERC）</vt:lpstr>
      <vt:lpstr>优点以及解决的问题</vt:lpstr>
      <vt:lpstr>PowerPoint 演示文稿</vt:lpstr>
      <vt:lpstr>架构 NN-1</vt:lpstr>
      <vt:lpstr>架构 NN-2</vt:lpstr>
      <vt:lpstr>架构 NN-3</vt:lpstr>
      <vt:lpstr>PowerPoint 演示文稿</vt:lpstr>
      <vt:lpstr>拉普拉斯算子</vt:lpstr>
      <vt:lpstr>bipartite rating networks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Hongyi Jiang</dc:creator>
  <cp:lastModifiedBy>Hongyi Jiang</cp:lastModifiedBy>
  <cp:revision>2</cp:revision>
  <dcterms:created xsi:type="dcterms:W3CDTF">2025-09-09T01:38:39Z</dcterms:created>
  <dcterms:modified xsi:type="dcterms:W3CDTF">2025-09-29T01:24:14Z</dcterms:modified>
</cp:coreProperties>
</file>